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7562850" cy="10688638"/>
  <p:notesSz cx="10688638" cy="75628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2412" y="-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nHee Lee" userId="e11fdef54db479aa" providerId="LiveId" clId="{47B6BE2F-65FB-43E6-93DF-A994C467EED9}"/>
    <pc:docChg chg="modSld">
      <pc:chgData name="MinHee Lee" userId="e11fdef54db479aa" providerId="LiveId" clId="{47B6BE2F-65FB-43E6-93DF-A994C467EED9}" dt="2026-09-14T04:49:47.269" v="51" actId="20577"/>
      <pc:docMkLst>
        <pc:docMk/>
      </pc:docMkLst>
      <pc:sldChg chg="modSp mod">
        <pc:chgData name="MinHee Lee" userId="e11fdef54db479aa" providerId="LiveId" clId="{47B6BE2F-65FB-43E6-93DF-A994C467EED9}" dt="2026-09-14T04:48:17.929" v="48" actId="20577"/>
        <pc:sldMkLst>
          <pc:docMk/>
          <pc:sldMk cId="0" sldId="258"/>
        </pc:sldMkLst>
        <pc:spChg chg="mod">
          <ac:chgData name="MinHee Lee" userId="e11fdef54db479aa" providerId="LiveId" clId="{47B6BE2F-65FB-43E6-93DF-A994C467EED9}" dt="2026-09-14T04:48:17.929" v="48" actId="20577"/>
          <ac:spMkLst>
            <pc:docMk/>
            <pc:sldMk cId="0" sldId="258"/>
            <ac:spMk id="19" creationId="{00000000-0000-0000-0000-000000000000}"/>
          </ac:spMkLst>
        </pc:spChg>
      </pc:sldChg>
      <pc:sldChg chg="modSp mod">
        <pc:chgData name="MinHee Lee" userId="e11fdef54db479aa" providerId="LiveId" clId="{47B6BE2F-65FB-43E6-93DF-A994C467EED9}" dt="2026-09-14T04:49:47.269" v="51" actId="20577"/>
        <pc:sldMkLst>
          <pc:docMk/>
          <pc:sldMk cId="0" sldId="259"/>
        </pc:sldMkLst>
        <pc:spChg chg="mod">
          <ac:chgData name="MinHee Lee" userId="e11fdef54db479aa" providerId="LiveId" clId="{47B6BE2F-65FB-43E6-93DF-A994C467EED9}" dt="2026-09-14T04:49:47.269" v="51" actId="20577"/>
          <ac:spMkLst>
            <pc:docMk/>
            <pc:sldMk cId="0" sldId="259"/>
            <ac:spMk id="2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3883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B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inimal_luxury_background_stationery_sce.png"/>
          <p:cNvPicPr>
            <a:picLocks noChangeAspect="1"/>
          </p:cNvPicPr>
          <p:nvPr/>
        </p:nvPicPr>
        <p:blipFill>
          <a:blip r:embed="rId3"/>
          <a:srcRect l="10" r="10"/>
          <a:stretch/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56032" y="256032"/>
            <a:ext cx="7050024" cy="10177272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D6B46A">
                <a:alpha val="82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31520" y="1188720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LEEDS BEAUTY STUDIO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1719072" y="1874520"/>
            <a:ext cx="4114800" cy="0"/>
          </a:xfrm>
          <a:prstGeom prst="line">
            <a:avLst/>
          </a:prstGeom>
          <a:noFill/>
          <a:ln w="7620">
            <a:solidFill>
              <a:srgbClr val="D6B46A">
                <a:alpha val="88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3108960"/>
            <a:ext cx="6126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4100" b="1" dirty="0">
                <a:solidFill>
                  <a:srgbClr val="4B3524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MENU BOOK</a:t>
            </a:r>
            <a:endParaRPr lang="en-US" sz="4100" dirty="0"/>
          </a:p>
        </p:txBody>
      </p:sp>
      <p:sp>
        <p:nvSpPr>
          <p:cNvPr id="7" name="Text 4"/>
          <p:cNvSpPr/>
          <p:nvPr/>
        </p:nvSpPr>
        <p:spPr>
          <a:xfrm>
            <a:off x="868680" y="4069080"/>
            <a:ext cx="5806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50" dirty="0" err="1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근막순환케어</a:t>
            </a:r>
            <a:r>
              <a:rPr lang="en-US" sz="115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</a:t>
            </a:r>
            <a:r>
              <a:rPr lang="ko-KR" altLang="en-US" sz="115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전문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960120" y="5321808"/>
            <a:ext cx="5650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900" b="1" dirty="0">
                <a:solidFill>
                  <a:srgbClr val="8E6A2D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근막을 깨우고, 아름다움을 깨우다.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2057400" y="6053328"/>
            <a:ext cx="3447288" cy="0"/>
          </a:xfrm>
          <a:prstGeom prst="line">
            <a:avLst/>
          </a:prstGeom>
          <a:noFill/>
          <a:ln w="7620">
            <a:solidFill>
              <a:srgbClr val="D6B46A">
                <a:alpha val="72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97280" y="8613648"/>
            <a:ext cx="5367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950" dirty="0">
                <a:solidFill>
                  <a:srgbClr val="8D7A6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OMOKGYO PREMIUM BEAUTY CARE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310128" y="905256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B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inimal_luxury_background_stationery_sce.png"/>
          <p:cNvPicPr>
            <a:picLocks noChangeAspect="1"/>
          </p:cNvPicPr>
          <p:nvPr/>
        </p:nvPicPr>
        <p:blipFill>
          <a:blip r:embed="rId3"/>
          <a:srcRect l="10" r="10"/>
          <a:stretch/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56032" y="256032"/>
            <a:ext cx="7050024" cy="10177272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D6B46A">
                <a:alpha val="82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56692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LEEDS BEAUTY STUDIO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053328" y="539496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PAGE 01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658368" y="932688"/>
            <a:ext cx="6245352" cy="0"/>
          </a:xfrm>
          <a:prstGeom prst="line">
            <a:avLst/>
          </a:prstGeom>
          <a:noFill/>
          <a:ln w="7620">
            <a:solidFill>
              <a:srgbClr val="D6B46A">
                <a:alpha val="72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126187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800" b="1" dirty="0">
                <a:solidFill>
                  <a:srgbClr val="4B3524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FACE BASIC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85800" y="18745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2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피부 컨디션을 정돈하는 데일리 페이스 케어</a:t>
            </a:r>
            <a:endParaRPr lang="en-US" sz="1220" dirty="0"/>
          </a:p>
        </p:txBody>
      </p:sp>
      <p:sp>
        <p:nvSpPr>
          <p:cNvPr id="9" name="Shape 6"/>
          <p:cNvSpPr/>
          <p:nvPr/>
        </p:nvSpPr>
        <p:spPr>
          <a:xfrm>
            <a:off x="658368" y="2340864"/>
            <a:ext cx="2359152" cy="0"/>
          </a:xfrm>
          <a:prstGeom prst="line">
            <a:avLst/>
          </a:prstGeom>
          <a:noFill/>
          <a:ln w="12700">
            <a:solidFill>
              <a:srgbClr val="B8904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04672" y="2898648"/>
            <a:ext cx="5943600" cy="0"/>
          </a:xfrm>
          <a:prstGeom prst="line">
            <a:avLst/>
          </a:prstGeom>
          <a:noFill/>
          <a:ln w="4445">
            <a:solidFill>
              <a:srgbClr val="D6B46A">
                <a:alpha val="5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" y="3017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335024" y="29718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베이직 케어 · 수분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335024" y="3328416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기초 피부 정돈과 수분 밸런스 회복을 위한 기본 관리.</a:t>
            </a:r>
            <a:endParaRPr lang="en-US" sz="960" dirty="0"/>
          </a:p>
        </p:txBody>
      </p:sp>
      <p:sp>
        <p:nvSpPr>
          <p:cNvPr id="14" name="Text 11"/>
          <p:cNvSpPr/>
          <p:nvPr/>
        </p:nvSpPr>
        <p:spPr>
          <a:xfrm>
            <a:off x="1335024" y="3922776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84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50분 · 피부정돈 · 수분공급</a:t>
            </a:r>
            <a:endParaRPr lang="en-US" sz="840" dirty="0"/>
          </a:p>
        </p:txBody>
      </p:sp>
      <p:sp>
        <p:nvSpPr>
          <p:cNvPr id="15" name="Text 12"/>
          <p:cNvSpPr/>
          <p:nvPr/>
        </p:nvSpPr>
        <p:spPr>
          <a:xfrm>
            <a:off x="5285232" y="299923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2F251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33,000원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804672" y="4471416"/>
            <a:ext cx="5943600" cy="0"/>
          </a:xfrm>
          <a:prstGeom prst="line">
            <a:avLst/>
          </a:prstGeom>
          <a:noFill/>
          <a:ln w="4445">
            <a:solidFill>
              <a:srgbClr val="D6B46A">
                <a:alpha val="58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6384" y="459028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335024" y="454456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ko-KR" altLang="en-US" sz="1450" b="1" dirty="0" err="1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소노</a:t>
            </a:r>
            <a:r>
              <a:rPr lang="ko-KR" altLang="en-US" sz="1450" b="1" dirty="0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</a:t>
            </a:r>
            <a:r>
              <a:rPr lang="en-US" sz="1450" b="1" dirty="0" err="1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진정</a:t>
            </a:r>
            <a:r>
              <a:rPr lang="ko-KR" altLang="en-US" sz="1450" b="1" dirty="0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케어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1335024" y="4901184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960" dirty="0" err="1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초음파</a:t>
            </a:r>
            <a:r>
              <a:rPr lang="ko-KR" alt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로 </a:t>
            </a:r>
            <a:r>
              <a:rPr lang="en-US" sz="960" dirty="0" err="1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민감</a:t>
            </a:r>
            <a:r>
              <a:rPr 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피부를 편안하게 </a:t>
            </a:r>
            <a:r>
              <a:rPr lang="en-US" sz="960" dirty="0" err="1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정돈하고</a:t>
            </a:r>
            <a:r>
              <a:rPr 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</a:t>
            </a:r>
            <a:r>
              <a:rPr lang="ko-KR" alt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림프를 깨워 </a:t>
            </a:r>
            <a:r>
              <a:rPr lang="en-US" sz="960" dirty="0" err="1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맑은</a:t>
            </a:r>
            <a:r>
              <a:rPr 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</a:t>
            </a:r>
            <a:r>
              <a:rPr lang="en-US" sz="960" dirty="0" err="1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톤을</a:t>
            </a:r>
            <a:r>
              <a:rPr 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</a:t>
            </a:r>
            <a:r>
              <a:rPr lang="en-US" sz="960" dirty="0" err="1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완성</a:t>
            </a:r>
            <a:r>
              <a:rPr 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.</a:t>
            </a:r>
            <a:r>
              <a:rPr lang="ko-KR" alt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</a:t>
            </a:r>
            <a:endParaRPr lang="en-US" sz="960" dirty="0"/>
          </a:p>
        </p:txBody>
      </p:sp>
      <p:sp>
        <p:nvSpPr>
          <p:cNvPr id="20" name="Text 17"/>
          <p:cNvSpPr/>
          <p:nvPr/>
        </p:nvSpPr>
        <p:spPr>
          <a:xfrm>
            <a:off x="1335024" y="5495544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84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60분 · 진정 · </a:t>
            </a:r>
            <a:r>
              <a:rPr lang="en-US" sz="840" b="1" dirty="0" err="1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보습</a:t>
            </a:r>
            <a:endParaRPr lang="en-US" sz="840" dirty="0"/>
          </a:p>
        </p:txBody>
      </p:sp>
      <p:sp>
        <p:nvSpPr>
          <p:cNvPr id="21" name="Text 18"/>
          <p:cNvSpPr/>
          <p:nvPr/>
        </p:nvSpPr>
        <p:spPr>
          <a:xfrm>
            <a:off x="5285232" y="45720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2F251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50,000원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804672" y="6044184"/>
            <a:ext cx="5943600" cy="0"/>
          </a:xfrm>
          <a:prstGeom prst="line">
            <a:avLst/>
          </a:prstGeom>
          <a:noFill/>
          <a:ln w="4445">
            <a:solidFill>
              <a:srgbClr val="D6B46A">
                <a:alpha val="58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86384" y="6163056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335024" y="611733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브라이트닝 케어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1335024" y="6473952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칙칙한 피부톤과 건조함을 동시에 케어하는 광채 집중 </a:t>
            </a:r>
            <a:r>
              <a:rPr lang="en-US" sz="960" dirty="0" err="1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프로그램</a:t>
            </a:r>
            <a:r>
              <a:rPr 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.</a:t>
            </a:r>
          </a:p>
          <a:p>
            <a:pPr marL="0" indent="0" algn="l">
              <a:lnSpc>
                <a:spcPct val="86000"/>
              </a:lnSpc>
              <a:buNone/>
            </a:pPr>
            <a:r>
              <a:rPr 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</a:rPr>
              <a:t>(</a:t>
            </a:r>
            <a:r>
              <a:rPr lang="ko-KR" altLang="en-US" sz="960" dirty="0" err="1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</a:rPr>
              <a:t>소노자임</a:t>
            </a:r>
            <a:r>
              <a:rPr lang="en-US" altLang="ko-KR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</a:rPr>
              <a:t>+</a:t>
            </a:r>
            <a:r>
              <a:rPr lang="ko-KR" altLang="en-US" sz="960" dirty="0" err="1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</a:rPr>
              <a:t>멜라겐화이트닝케어</a:t>
            </a:r>
            <a:r>
              <a:rPr lang="en-US" altLang="ko-KR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</a:rPr>
              <a:t>)</a:t>
            </a:r>
            <a:endParaRPr lang="en-US" sz="960" dirty="0"/>
          </a:p>
        </p:txBody>
      </p:sp>
      <p:sp>
        <p:nvSpPr>
          <p:cNvPr id="26" name="Text 23"/>
          <p:cNvSpPr/>
          <p:nvPr/>
        </p:nvSpPr>
        <p:spPr>
          <a:xfrm>
            <a:off x="1335024" y="7068312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84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60분 · </a:t>
            </a:r>
            <a:r>
              <a:rPr lang="en-US" sz="840" b="1" dirty="0" err="1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브라이트닝</a:t>
            </a:r>
            <a:r>
              <a:rPr lang="en-US" sz="84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· 광채</a:t>
            </a:r>
            <a:endParaRPr lang="en-US" sz="840" dirty="0"/>
          </a:p>
        </p:txBody>
      </p:sp>
      <p:sp>
        <p:nvSpPr>
          <p:cNvPr id="27" name="Text 24"/>
          <p:cNvSpPr/>
          <p:nvPr/>
        </p:nvSpPr>
        <p:spPr>
          <a:xfrm>
            <a:off x="5285232" y="614476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2F251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60,000원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658368" y="9802368"/>
            <a:ext cx="6245352" cy="0"/>
          </a:xfrm>
          <a:prstGeom prst="line">
            <a:avLst/>
          </a:prstGeom>
          <a:noFill/>
          <a:ln w="5715">
            <a:solidFill>
              <a:srgbClr val="D6B46A">
                <a:alpha val="62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58368" y="9976104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830" dirty="0">
                <a:solidFill>
                  <a:srgbClr val="8D7A6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근막과 근육 순환으로 고민하던 피부, 통증 문제가 개선됩니다.</a:t>
            </a:r>
            <a:endParaRPr lang="en-US" sz="830" dirty="0"/>
          </a:p>
        </p:txBody>
      </p:sp>
      <p:sp>
        <p:nvSpPr>
          <p:cNvPr id="30" name="Text 27"/>
          <p:cNvSpPr/>
          <p:nvPr/>
        </p:nvSpPr>
        <p:spPr>
          <a:xfrm>
            <a:off x="5650992" y="9976104"/>
            <a:ext cx="1252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2000"/>
              </a:lnSpc>
              <a:buNone/>
            </a:pPr>
            <a:r>
              <a:rPr lang="en-US" sz="740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OMOKGYO · PREMIUM CARE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B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inimal_luxury_background_stationery_sce.png"/>
          <p:cNvPicPr>
            <a:picLocks noChangeAspect="1"/>
          </p:cNvPicPr>
          <p:nvPr/>
        </p:nvPicPr>
        <p:blipFill>
          <a:blip r:embed="rId3"/>
          <a:srcRect l="10" r="10"/>
          <a:stretch/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56032" y="256032"/>
            <a:ext cx="7050024" cy="10177272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D6B46A">
                <a:alpha val="82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56692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LEEDS BEAUTY STUDIO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053328" y="539496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PAGE 02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658368" y="932688"/>
            <a:ext cx="6245352" cy="0"/>
          </a:xfrm>
          <a:prstGeom prst="line">
            <a:avLst/>
          </a:prstGeom>
          <a:noFill/>
          <a:ln w="7620">
            <a:solidFill>
              <a:srgbClr val="D6B46A">
                <a:alpha val="72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126187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800" b="1" dirty="0">
                <a:solidFill>
                  <a:srgbClr val="4B3524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FACE LIFTING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85800" y="18745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2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윤곽과 탄력을 끌어올리는 리프팅 집중 케어</a:t>
            </a:r>
            <a:endParaRPr lang="en-US" sz="1220" dirty="0"/>
          </a:p>
        </p:txBody>
      </p:sp>
      <p:sp>
        <p:nvSpPr>
          <p:cNvPr id="9" name="Shape 6"/>
          <p:cNvSpPr/>
          <p:nvPr/>
        </p:nvSpPr>
        <p:spPr>
          <a:xfrm>
            <a:off x="658368" y="2340864"/>
            <a:ext cx="2359152" cy="0"/>
          </a:xfrm>
          <a:prstGeom prst="line">
            <a:avLst/>
          </a:prstGeom>
          <a:noFill/>
          <a:ln w="12700">
            <a:solidFill>
              <a:srgbClr val="B8904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04672" y="2724912"/>
            <a:ext cx="5943600" cy="0"/>
          </a:xfrm>
          <a:prstGeom prst="line">
            <a:avLst/>
          </a:prstGeom>
          <a:noFill/>
          <a:ln w="4445">
            <a:solidFill>
              <a:srgbClr val="D6B46A">
                <a:alpha val="5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" y="2843784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335024" y="279806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에너지 윤곽 케어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335024" y="3154680"/>
            <a:ext cx="58087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ko-KR" alt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두피</a:t>
            </a:r>
            <a:r>
              <a:rPr lang="en-US" altLang="ko-KR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, </a:t>
            </a:r>
            <a:r>
              <a:rPr lang="ko-KR" alt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페이스</a:t>
            </a:r>
            <a:r>
              <a:rPr lang="en-US" altLang="ko-KR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, </a:t>
            </a:r>
            <a:r>
              <a:rPr lang="ko-KR" altLang="en-US" sz="960" dirty="0" err="1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데콜테의</a:t>
            </a:r>
            <a:r>
              <a:rPr lang="ko-KR" alt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</a:t>
            </a:r>
            <a:r>
              <a:rPr lang="en-US" sz="960" dirty="0" err="1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근막</a:t>
            </a:r>
            <a:r>
              <a:rPr lang="ko-KR" alt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을 풀고</a:t>
            </a:r>
            <a:r>
              <a:rPr lang="en-US" altLang="ko-KR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, </a:t>
            </a:r>
            <a:r>
              <a:rPr lang="en-US" sz="960" dirty="0" err="1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근육</a:t>
            </a:r>
            <a:r>
              <a:rPr 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순환을 도와 페이스 라인을 정리하는 리즈 </a:t>
            </a:r>
            <a:r>
              <a:rPr lang="en-US" sz="960" dirty="0" err="1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시그니처</a:t>
            </a:r>
            <a:r>
              <a:rPr 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</a:t>
            </a:r>
            <a:r>
              <a:rPr lang="en-US" sz="960" dirty="0" err="1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윤곽</a:t>
            </a:r>
            <a:r>
              <a:rPr 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관리.</a:t>
            </a:r>
            <a:endParaRPr lang="en-US" sz="960" dirty="0"/>
          </a:p>
        </p:txBody>
      </p:sp>
      <p:sp>
        <p:nvSpPr>
          <p:cNvPr id="14" name="Text 11"/>
          <p:cNvSpPr/>
          <p:nvPr/>
        </p:nvSpPr>
        <p:spPr>
          <a:xfrm>
            <a:off x="1335024" y="3749040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84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70분 · 윤곽 · 순환 · </a:t>
            </a:r>
            <a:r>
              <a:rPr lang="ko-KR" altLang="en-US" sz="840" b="1" dirty="0" err="1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리프팅</a:t>
            </a:r>
            <a:endParaRPr lang="en-US" sz="840" dirty="0"/>
          </a:p>
        </p:txBody>
      </p:sp>
      <p:sp>
        <p:nvSpPr>
          <p:cNvPr id="15" name="Text 12"/>
          <p:cNvSpPr/>
          <p:nvPr/>
        </p:nvSpPr>
        <p:spPr>
          <a:xfrm>
            <a:off x="5285232" y="282549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2F251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85,000원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804672" y="4050792"/>
            <a:ext cx="5943600" cy="0"/>
          </a:xfrm>
          <a:prstGeom prst="line">
            <a:avLst/>
          </a:prstGeom>
          <a:noFill/>
          <a:ln w="4445">
            <a:solidFill>
              <a:srgbClr val="D6B46A">
                <a:alpha val="58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6384" y="4169664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335024" y="412394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450" b="1" dirty="0" err="1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스마트쎄라</a:t>
            </a:r>
            <a:r>
              <a:rPr lang="en-US" sz="1450" b="1" dirty="0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10,500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1335024" y="4480560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SMAS 근막층 타깃의 고강도 집속 초음파 리프팅 </a:t>
            </a:r>
            <a:r>
              <a:rPr lang="en-US" sz="960" dirty="0" err="1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관리</a:t>
            </a:r>
            <a:r>
              <a:rPr 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.</a:t>
            </a:r>
            <a:endParaRPr lang="en-US" sz="960" dirty="0"/>
          </a:p>
        </p:txBody>
      </p:sp>
      <p:sp>
        <p:nvSpPr>
          <p:cNvPr id="20" name="Text 17"/>
          <p:cNvSpPr/>
          <p:nvPr/>
        </p:nvSpPr>
        <p:spPr>
          <a:xfrm>
            <a:off x="1335024" y="5074920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92000"/>
              </a:lnSpc>
            </a:pPr>
            <a:r>
              <a:rPr lang="en-US" sz="84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100분 · </a:t>
            </a:r>
            <a:r>
              <a:rPr lang="ko-KR" altLang="en-US" sz="840" b="1" dirty="0" err="1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이중턱</a:t>
            </a:r>
            <a:r>
              <a:rPr lang="ko-KR" altLang="en-US" sz="84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</a:t>
            </a:r>
            <a:r>
              <a:rPr lang="en-US" altLang="ko-KR" sz="84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· </a:t>
            </a:r>
            <a:r>
              <a:rPr lang="ko-KR" altLang="en-US" sz="840" b="1" dirty="0" err="1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심부볼</a:t>
            </a:r>
            <a:r>
              <a:rPr lang="en-US" altLang="ko-KR" sz="84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· </a:t>
            </a:r>
            <a:r>
              <a:rPr lang="ko-KR" altLang="en-US" sz="840" b="1" dirty="0" err="1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쳐진눈매</a:t>
            </a:r>
            <a:r>
              <a:rPr lang="ko-KR" altLang="en-US" sz="84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</a:t>
            </a:r>
            <a:endParaRPr lang="en-US" sz="840" dirty="0"/>
          </a:p>
        </p:txBody>
      </p:sp>
      <p:sp>
        <p:nvSpPr>
          <p:cNvPr id="21" name="Text 18"/>
          <p:cNvSpPr/>
          <p:nvPr/>
        </p:nvSpPr>
        <p:spPr>
          <a:xfrm>
            <a:off x="5285232" y="415137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2F251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250,000원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804672" y="5376672"/>
            <a:ext cx="5943600" cy="0"/>
          </a:xfrm>
          <a:prstGeom prst="line">
            <a:avLst/>
          </a:prstGeom>
          <a:noFill/>
          <a:ln w="4445">
            <a:solidFill>
              <a:srgbClr val="D6B46A">
                <a:alpha val="58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86384" y="5495544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335024" y="544982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450" b="1" dirty="0" err="1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써마</a:t>
            </a:r>
            <a:r>
              <a:rPr lang="ko-KR" altLang="en-US" sz="1450" b="1" dirty="0" err="1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쥬</a:t>
            </a:r>
            <a:r>
              <a:rPr lang="en-US" sz="1450" b="1" dirty="0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700</a:t>
            </a:r>
            <a:r>
              <a:rPr lang="ko-KR" altLang="en-US" sz="1450" b="1" dirty="0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샷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1335024" y="5806440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탄력 저하와 모공, 피부결 고민에 집중하는 고주파 리프팅 프로그램.</a:t>
            </a:r>
            <a:endParaRPr lang="en-US" sz="960" dirty="0"/>
          </a:p>
        </p:txBody>
      </p:sp>
      <p:sp>
        <p:nvSpPr>
          <p:cNvPr id="26" name="Text 23"/>
          <p:cNvSpPr/>
          <p:nvPr/>
        </p:nvSpPr>
        <p:spPr>
          <a:xfrm>
            <a:off x="1335024" y="6400800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92000"/>
              </a:lnSpc>
            </a:pPr>
            <a:r>
              <a:rPr lang="en-US" sz="84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80분 · </a:t>
            </a:r>
            <a:r>
              <a:rPr lang="ko-KR" altLang="en-US" sz="84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페이스</a:t>
            </a:r>
            <a:r>
              <a:rPr lang="en-US" altLang="ko-KR" sz="84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, </a:t>
            </a:r>
            <a:r>
              <a:rPr lang="ko-KR" altLang="en-US" sz="84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목 잔주름</a:t>
            </a:r>
            <a:r>
              <a:rPr lang="en-US" altLang="ko-KR" sz="84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· </a:t>
            </a:r>
            <a:r>
              <a:rPr lang="ko-KR" altLang="en-US" sz="84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콜라겐생성</a:t>
            </a:r>
            <a:r>
              <a:rPr lang="en-US" altLang="ko-KR" sz="84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· </a:t>
            </a:r>
            <a:r>
              <a:rPr lang="ko-KR" altLang="en-US" sz="84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쫀쫀한 피부</a:t>
            </a:r>
            <a:endParaRPr lang="en-US" sz="840" dirty="0"/>
          </a:p>
        </p:txBody>
      </p:sp>
      <p:sp>
        <p:nvSpPr>
          <p:cNvPr id="27" name="Text 24"/>
          <p:cNvSpPr/>
          <p:nvPr/>
        </p:nvSpPr>
        <p:spPr>
          <a:xfrm>
            <a:off x="5285232" y="547725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2F251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150,000원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804672" y="6702552"/>
            <a:ext cx="5943600" cy="0"/>
          </a:xfrm>
          <a:prstGeom prst="line">
            <a:avLst/>
          </a:prstGeom>
          <a:noFill/>
          <a:ln w="4445">
            <a:solidFill>
              <a:srgbClr val="D6B46A">
                <a:alpha val="58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86384" y="6821424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04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335024" y="677570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ko-KR" altLang="en-US" sz="1450" b="1" dirty="0" err="1">
                <a:solidFill>
                  <a:srgbClr val="4B3524"/>
                </a:solidFill>
                <a:latin typeface="NanumSquare" pitchFamily="34" charset="0"/>
              </a:rPr>
              <a:t>이중턱</a:t>
            </a:r>
            <a:r>
              <a:rPr lang="ko-KR" altLang="en-US" sz="1450" b="1" dirty="0">
                <a:solidFill>
                  <a:srgbClr val="4B3524"/>
                </a:solidFill>
                <a:latin typeface="NanumSquare" pitchFamily="34" charset="0"/>
              </a:rPr>
              <a:t> </a:t>
            </a:r>
            <a:r>
              <a:rPr lang="ko-KR" altLang="en-US" sz="1450" b="1" dirty="0" err="1">
                <a:solidFill>
                  <a:srgbClr val="4B3524"/>
                </a:solidFill>
                <a:latin typeface="NanumSquare" pitchFamily="34" charset="0"/>
              </a:rPr>
              <a:t>집중케어</a:t>
            </a:r>
            <a:endParaRPr lang="en-US" sz="1450" dirty="0"/>
          </a:p>
        </p:txBody>
      </p:sp>
      <p:sp>
        <p:nvSpPr>
          <p:cNvPr id="31" name="Text 28"/>
          <p:cNvSpPr/>
          <p:nvPr/>
        </p:nvSpPr>
        <p:spPr>
          <a:xfrm>
            <a:off x="1335024" y="7132320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ko-KR" altLang="en-US" sz="960" dirty="0" err="1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턱선의</a:t>
            </a:r>
            <a:r>
              <a:rPr lang="ko-KR" alt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지방과 </a:t>
            </a:r>
            <a:r>
              <a:rPr lang="ko-KR" altLang="en-US" sz="960" dirty="0" err="1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근막을</a:t>
            </a:r>
            <a:r>
              <a:rPr lang="ko-KR" alt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</a:t>
            </a:r>
            <a:r>
              <a:rPr lang="en-US" sz="960" dirty="0" err="1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집중</a:t>
            </a:r>
            <a:r>
              <a:rPr 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</a:t>
            </a:r>
            <a:r>
              <a:rPr lang="en-US" sz="960" dirty="0" err="1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관리하는</a:t>
            </a:r>
            <a:r>
              <a:rPr 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</a:t>
            </a:r>
            <a:r>
              <a:rPr lang="ko-KR" altLang="en-US" sz="960" dirty="0" err="1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턱라인</a:t>
            </a:r>
            <a:r>
              <a:rPr lang="ko-KR" alt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</a:t>
            </a:r>
            <a:r>
              <a:rPr lang="ko-KR" altLang="en-US" sz="960" dirty="0" err="1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타켓</a:t>
            </a:r>
            <a:r>
              <a:rPr lang="ko-KR" alt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</a:t>
            </a:r>
            <a:r>
              <a:rPr lang="en-US" sz="960" dirty="0" err="1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프로그램</a:t>
            </a:r>
            <a:r>
              <a:rPr 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.</a:t>
            </a:r>
            <a:endParaRPr lang="en-US" sz="960" dirty="0"/>
          </a:p>
        </p:txBody>
      </p:sp>
      <p:sp>
        <p:nvSpPr>
          <p:cNvPr id="32" name="Text 29"/>
          <p:cNvSpPr/>
          <p:nvPr/>
        </p:nvSpPr>
        <p:spPr>
          <a:xfrm>
            <a:off x="1335024" y="7726680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92000"/>
              </a:lnSpc>
            </a:pPr>
            <a:r>
              <a:rPr lang="en-US" sz="84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60분 · </a:t>
            </a:r>
            <a:r>
              <a:rPr lang="ko-KR" altLang="en-US" sz="840" b="1" dirty="0" err="1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이중턱</a:t>
            </a:r>
            <a:r>
              <a:rPr lang="en-US" altLang="ko-KR" sz="84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· </a:t>
            </a:r>
            <a:r>
              <a:rPr lang="ko-KR" altLang="en-US" sz="84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날렵한 </a:t>
            </a:r>
            <a:r>
              <a:rPr lang="ko-KR" altLang="en-US" sz="840" b="1" dirty="0" err="1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턱선</a:t>
            </a:r>
            <a:endParaRPr lang="en-US" sz="840" dirty="0"/>
          </a:p>
        </p:txBody>
      </p:sp>
      <p:sp>
        <p:nvSpPr>
          <p:cNvPr id="33" name="Text 30"/>
          <p:cNvSpPr/>
          <p:nvPr/>
        </p:nvSpPr>
        <p:spPr>
          <a:xfrm>
            <a:off x="5285232" y="680313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2F251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100,000원</a:t>
            </a:r>
            <a:endParaRPr lang="en-US" sz="1350" dirty="0"/>
          </a:p>
        </p:txBody>
      </p:sp>
      <p:sp>
        <p:nvSpPr>
          <p:cNvPr id="34" name="Shape 31"/>
          <p:cNvSpPr/>
          <p:nvPr/>
        </p:nvSpPr>
        <p:spPr>
          <a:xfrm>
            <a:off x="658368" y="9802368"/>
            <a:ext cx="6245352" cy="0"/>
          </a:xfrm>
          <a:prstGeom prst="line">
            <a:avLst/>
          </a:prstGeom>
          <a:noFill/>
          <a:ln w="5715">
            <a:solidFill>
              <a:srgbClr val="D6B46A">
                <a:alpha val="6200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58368" y="9976104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830" dirty="0">
                <a:solidFill>
                  <a:srgbClr val="8D7A6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근막과 근육 순환으로 고민하던 피부, 통증 문제가 개선됩니다.</a:t>
            </a:r>
            <a:endParaRPr lang="en-US" sz="830" dirty="0"/>
          </a:p>
        </p:txBody>
      </p:sp>
      <p:sp>
        <p:nvSpPr>
          <p:cNvPr id="36" name="Text 33"/>
          <p:cNvSpPr/>
          <p:nvPr/>
        </p:nvSpPr>
        <p:spPr>
          <a:xfrm>
            <a:off x="5650992" y="9976104"/>
            <a:ext cx="1252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2000"/>
              </a:lnSpc>
              <a:buNone/>
            </a:pPr>
            <a:r>
              <a:rPr lang="en-US" sz="740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OMOKGYO · PREMIUM CARE</a:t>
            </a:r>
            <a:endParaRPr lang="en-US" sz="7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B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inimal_luxury_background_stationery_sce.png"/>
          <p:cNvPicPr>
            <a:picLocks noChangeAspect="1"/>
          </p:cNvPicPr>
          <p:nvPr/>
        </p:nvPicPr>
        <p:blipFill>
          <a:blip r:embed="rId3"/>
          <a:srcRect l="10" r="10"/>
          <a:stretch/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56032" y="256032"/>
            <a:ext cx="7050024" cy="10177272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D6B46A">
                <a:alpha val="82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56692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LEEDS BEAUTY STUDIO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053328" y="539496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PAGE 03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658368" y="932688"/>
            <a:ext cx="6245352" cy="0"/>
          </a:xfrm>
          <a:prstGeom prst="line">
            <a:avLst/>
          </a:prstGeom>
          <a:noFill/>
          <a:ln w="7620">
            <a:solidFill>
              <a:srgbClr val="D6B46A">
                <a:alpha val="72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126187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800" b="1" dirty="0">
                <a:solidFill>
                  <a:srgbClr val="4B3524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BODY LINE CARE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85800" y="18745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2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부종과 군살을 정리해 더욱 매끈한 바디라인 완성</a:t>
            </a:r>
            <a:endParaRPr lang="en-US" sz="1220" dirty="0"/>
          </a:p>
        </p:txBody>
      </p:sp>
      <p:sp>
        <p:nvSpPr>
          <p:cNvPr id="9" name="Shape 6"/>
          <p:cNvSpPr/>
          <p:nvPr/>
        </p:nvSpPr>
        <p:spPr>
          <a:xfrm>
            <a:off x="658368" y="2340864"/>
            <a:ext cx="2359152" cy="0"/>
          </a:xfrm>
          <a:prstGeom prst="line">
            <a:avLst/>
          </a:prstGeom>
          <a:noFill/>
          <a:ln w="12700">
            <a:solidFill>
              <a:srgbClr val="B8904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04672" y="2724912"/>
            <a:ext cx="5943600" cy="0"/>
          </a:xfrm>
          <a:prstGeom prst="line">
            <a:avLst/>
          </a:prstGeom>
          <a:noFill/>
          <a:ln w="4445">
            <a:solidFill>
              <a:srgbClr val="D6B46A">
                <a:alpha val="5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" y="2843784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335024" y="279806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에너지 바디 테라피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335024" y="3154680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ko-KR" altLang="en-US" sz="960" dirty="0" err="1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근막</a:t>
            </a:r>
            <a:r>
              <a:rPr lang="en-US" altLang="ko-KR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, </a:t>
            </a:r>
            <a:r>
              <a:rPr lang="ko-KR" alt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근육을 풀고 </a:t>
            </a:r>
            <a:r>
              <a:rPr lang="en-US" sz="960" dirty="0" err="1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뭉침과</a:t>
            </a:r>
            <a:r>
              <a:rPr 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라인 고민을 함께 케어합니다.</a:t>
            </a:r>
            <a:endParaRPr lang="en-US" sz="960" dirty="0"/>
          </a:p>
        </p:txBody>
      </p:sp>
      <p:sp>
        <p:nvSpPr>
          <p:cNvPr id="14" name="Text 11"/>
          <p:cNvSpPr/>
          <p:nvPr/>
        </p:nvSpPr>
        <p:spPr>
          <a:xfrm>
            <a:off x="1335024" y="3749040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84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60분 · 등 · 복부 · 허벅지 · 종아리 · 팔 중 택 1</a:t>
            </a:r>
            <a:endParaRPr lang="en-US" sz="840" dirty="0"/>
          </a:p>
        </p:txBody>
      </p:sp>
      <p:sp>
        <p:nvSpPr>
          <p:cNvPr id="15" name="Text 12"/>
          <p:cNvSpPr/>
          <p:nvPr/>
        </p:nvSpPr>
        <p:spPr>
          <a:xfrm>
            <a:off x="5285232" y="282549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2F251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60,000원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804672" y="4050792"/>
            <a:ext cx="5943600" cy="0"/>
          </a:xfrm>
          <a:prstGeom prst="line">
            <a:avLst/>
          </a:prstGeom>
          <a:noFill/>
          <a:ln w="4445">
            <a:solidFill>
              <a:srgbClr val="D6B46A">
                <a:alpha val="58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6384" y="4169664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335024" y="412394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하체 </a:t>
            </a:r>
            <a:r>
              <a:rPr lang="en-US" sz="1450" b="1" dirty="0" err="1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전후면</a:t>
            </a:r>
            <a:r>
              <a:rPr lang="en-US" sz="1450" b="1" dirty="0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</a:t>
            </a:r>
            <a:r>
              <a:rPr lang="ko-KR" altLang="en-US" sz="1450" b="1" dirty="0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에너지 </a:t>
            </a:r>
            <a:r>
              <a:rPr lang="ko-KR" altLang="en-US" sz="1450" b="1" dirty="0" err="1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테라피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1335024" y="4480560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960" dirty="0" err="1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허벅지와</a:t>
            </a:r>
            <a:r>
              <a:rPr 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</a:t>
            </a:r>
            <a:r>
              <a:rPr lang="en-US" sz="960" dirty="0" err="1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종아리</a:t>
            </a:r>
            <a:r>
              <a:rPr 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라인을 중심으로 부종감과 순환 저하를 집중 관리.</a:t>
            </a:r>
            <a:endParaRPr lang="en-US" sz="960" dirty="0"/>
          </a:p>
        </p:txBody>
      </p:sp>
      <p:sp>
        <p:nvSpPr>
          <p:cNvPr id="20" name="Text 17"/>
          <p:cNvSpPr/>
          <p:nvPr/>
        </p:nvSpPr>
        <p:spPr>
          <a:xfrm>
            <a:off x="1335024" y="5074920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altLang="ko-KR" sz="84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70</a:t>
            </a:r>
            <a:r>
              <a:rPr lang="ko-KR" altLang="en-US" sz="84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분</a:t>
            </a:r>
            <a:r>
              <a:rPr lang="en-US" sz="84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· 하체 라인 · 순환</a:t>
            </a:r>
            <a:endParaRPr lang="en-US" sz="840" dirty="0"/>
          </a:p>
        </p:txBody>
      </p:sp>
      <p:sp>
        <p:nvSpPr>
          <p:cNvPr id="21" name="Text 18"/>
          <p:cNvSpPr/>
          <p:nvPr/>
        </p:nvSpPr>
        <p:spPr>
          <a:xfrm>
            <a:off x="5285232" y="415137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2000"/>
              </a:lnSpc>
              <a:buNone/>
            </a:pPr>
            <a:r>
              <a:rPr lang="en-US" sz="1350" b="1">
                <a:solidFill>
                  <a:srgbClr val="2F251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90,000</a:t>
            </a:r>
            <a:r>
              <a:rPr lang="ko-KR" altLang="en-US" sz="1350" b="1" dirty="0">
                <a:solidFill>
                  <a:srgbClr val="2F251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원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804672" y="5376672"/>
            <a:ext cx="5943600" cy="0"/>
          </a:xfrm>
          <a:prstGeom prst="line">
            <a:avLst/>
          </a:prstGeom>
          <a:noFill/>
          <a:ln w="4445">
            <a:solidFill>
              <a:srgbClr val="D6B46A">
                <a:alpha val="58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86384" y="5495544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335024" y="544982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altLang="ko-KR" sz="1450" b="1" dirty="0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[</a:t>
            </a:r>
            <a:r>
              <a:rPr lang="ko-KR" altLang="en-US" sz="1450" b="1" dirty="0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옵션</a:t>
            </a:r>
            <a:r>
              <a:rPr lang="en-US" altLang="ko-KR" sz="1450" b="1" dirty="0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] </a:t>
            </a:r>
            <a:r>
              <a:rPr lang="ko-KR" altLang="en-US" sz="1450" b="1" dirty="0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에너지 </a:t>
            </a:r>
            <a:r>
              <a:rPr lang="ko-KR" altLang="en-US" sz="1450" b="1" dirty="0" err="1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테라피</a:t>
            </a:r>
            <a:r>
              <a:rPr lang="ko-KR" altLang="en-US" sz="1450" b="1" dirty="0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</a:t>
            </a:r>
            <a:r>
              <a:rPr lang="en-US" altLang="ko-KR" sz="1450" b="1" dirty="0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10</a:t>
            </a:r>
            <a:r>
              <a:rPr lang="ko-KR" altLang="en-US" sz="1450" b="1" dirty="0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분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1335024" y="5806440"/>
            <a:ext cx="4718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ko-KR" altLang="en-US" sz="960" dirty="0">
                <a:solidFill>
                  <a:srgbClr val="7E6B5B"/>
                </a:solidFill>
                <a:latin typeface="NanumSquare" pitchFamily="34" charset="0"/>
              </a:rPr>
              <a:t>각 케어에 두피</a:t>
            </a:r>
            <a:r>
              <a:rPr lang="en-US" altLang="ko-KR" sz="960" dirty="0">
                <a:solidFill>
                  <a:srgbClr val="7E6B5B"/>
                </a:solidFill>
                <a:latin typeface="NanumSquare" pitchFamily="34" charset="0"/>
              </a:rPr>
              <a:t>or</a:t>
            </a:r>
            <a:r>
              <a:rPr lang="ko-KR" altLang="en-US" sz="960" dirty="0">
                <a:solidFill>
                  <a:srgbClr val="7E6B5B"/>
                </a:solidFill>
                <a:latin typeface="NanumSquare" pitchFamily="34" charset="0"/>
              </a:rPr>
              <a:t>페이스</a:t>
            </a:r>
            <a:r>
              <a:rPr lang="en-US" altLang="ko-KR" sz="960" dirty="0">
                <a:solidFill>
                  <a:srgbClr val="7E6B5B"/>
                </a:solidFill>
                <a:latin typeface="NanumSquare" pitchFamily="34" charset="0"/>
              </a:rPr>
              <a:t>or</a:t>
            </a:r>
            <a:r>
              <a:rPr lang="ko-KR" altLang="en-US" sz="960" dirty="0" err="1">
                <a:solidFill>
                  <a:srgbClr val="7E6B5B"/>
                </a:solidFill>
                <a:latin typeface="NanumSquare" pitchFamily="34" charset="0"/>
              </a:rPr>
              <a:t>데콜테</a:t>
            </a:r>
            <a:r>
              <a:rPr lang="ko-KR" altLang="en-US" sz="960" dirty="0">
                <a:solidFill>
                  <a:srgbClr val="7E6B5B"/>
                </a:solidFill>
                <a:latin typeface="NanumSquare" pitchFamily="34" charset="0"/>
              </a:rPr>
              <a:t> 에너지 </a:t>
            </a:r>
            <a:r>
              <a:rPr lang="ko-KR" altLang="en-US" sz="960" dirty="0" err="1">
                <a:solidFill>
                  <a:srgbClr val="7E6B5B"/>
                </a:solidFill>
                <a:latin typeface="NanumSquare" pitchFamily="34" charset="0"/>
              </a:rPr>
              <a:t>테라피를</a:t>
            </a:r>
            <a:r>
              <a:rPr lang="ko-KR" altLang="en-US" sz="960" dirty="0">
                <a:solidFill>
                  <a:srgbClr val="7E6B5B"/>
                </a:solidFill>
                <a:latin typeface="NanumSquare" pitchFamily="34" charset="0"/>
              </a:rPr>
              <a:t> </a:t>
            </a:r>
            <a:r>
              <a:rPr lang="en-US" altLang="ko-KR" sz="960" dirty="0">
                <a:solidFill>
                  <a:srgbClr val="7E6B5B"/>
                </a:solidFill>
                <a:latin typeface="NanumSquare" pitchFamily="34" charset="0"/>
              </a:rPr>
              <a:t>10</a:t>
            </a:r>
            <a:r>
              <a:rPr lang="ko-KR" altLang="en-US" sz="960" dirty="0">
                <a:solidFill>
                  <a:srgbClr val="7E6B5B"/>
                </a:solidFill>
                <a:latin typeface="NanumSquare" pitchFamily="34" charset="0"/>
              </a:rPr>
              <a:t>분 단위로 추가하여 효과 극대화</a:t>
            </a:r>
            <a:endParaRPr lang="en-US" altLang="ko-KR" sz="960" dirty="0">
              <a:solidFill>
                <a:srgbClr val="7E6B5B"/>
              </a:solidFill>
              <a:latin typeface="NanumSquare" pitchFamily="34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1335024" y="6400800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84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부분 집중 · 라인정돈 · 근막순환</a:t>
            </a:r>
            <a:endParaRPr lang="en-US" sz="840" dirty="0"/>
          </a:p>
        </p:txBody>
      </p:sp>
      <p:sp>
        <p:nvSpPr>
          <p:cNvPr id="27" name="Text 24"/>
          <p:cNvSpPr/>
          <p:nvPr/>
        </p:nvSpPr>
        <p:spPr>
          <a:xfrm>
            <a:off x="5285232" y="547725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ct val="92000"/>
              </a:lnSpc>
            </a:pPr>
            <a:r>
              <a:rPr lang="en-US" altLang="ko-KR" sz="1350" b="1" dirty="0">
                <a:solidFill>
                  <a:srgbClr val="2F251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10,000</a:t>
            </a:r>
            <a:r>
              <a:rPr lang="ko-KR" altLang="en-US" sz="1350" b="1" dirty="0">
                <a:solidFill>
                  <a:srgbClr val="2F251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원</a:t>
            </a:r>
            <a:endParaRPr lang="en-US" altLang="ko-KR" sz="1350" dirty="0"/>
          </a:p>
        </p:txBody>
      </p:sp>
      <p:sp>
        <p:nvSpPr>
          <p:cNvPr id="28" name="Shape 25"/>
          <p:cNvSpPr/>
          <p:nvPr/>
        </p:nvSpPr>
        <p:spPr>
          <a:xfrm>
            <a:off x="804672" y="6702552"/>
            <a:ext cx="5943600" cy="0"/>
          </a:xfrm>
          <a:prstGeom prst="line">
            <a:avLst/>
          </a:prstGeom>
          <a:noFill/>
          <a:ln w="4445">
            <a:solidFill>
              <a:srgbClr val="D6B46A">
                <a:alpha val="58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86384" y="6821424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04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335024" y="677570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92000"/>
              </a:lnSpc>
            </a:pPr>
            <a:r>
              <a:rPr lang="en-US" altLang="ko-KR" sz="1450" b="1" dirty="0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[</a:t>
            </a:r>
            <a:r>
              <a:rPr lang="ko-KR" altLang="en-US" sz="1450" b="1" dirty="0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옵션</a:t>
            </a:r>
            <a:r>
              <a:rPr lang="en-US" altLang="ko-KR" sz="1450" b="1" dirty="0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] </a:t>
            </a:r>
            <a:r>
              <a:rPr lang="ko-KR" altLang="en-US" sz="1450" b="1" dirty="0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지방 케어 </a:t>
            </a:r>
            <a:r>
              <a:rPr lang="en-US" altLang="ko-KR" sz="1450" b="1" dirty="0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20</a:t>
            </a:r>
            <a:r>
              <a:rPr lang="ko-KR" altLang="en-US" sz="1450" b="1" dirty="0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분</a:t>
            </a:r>
            <a:endParaRPr lang="en-US" altLang="ko-KR" sz="1450" dirty="0"/>
          </a:p>
        </p:txBody>
      </p:sp>
      <p:sp>
        <p:nvSpPr>
          <p:cNvPr id="31" name="Text 28"/>
          <p:cNvSpPr/>
          <p:nvPr/>
        </p:nvSpPr>
        <p:spPr>
          <a:xfrm>
            <a:off x="1335024" y="7132320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960" dirty="0" err="1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바디</a:t>
            </a:r>
            <a:r>
              <a:rPr 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관리에 추가하여 군살 정리와 매끄러운 </a:t>
            </a:r>
            <a:r>
              <a:rPr lang="en-US" sz="960" dirty="0" err="1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라인을</a:t>
            </a:r>
            <a:r>
              <a:rPr 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</a:t>
            </a:r>
            <a:r>
              <a:rPr lang="en-US" sz="960" dirty="0" err="1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보조</a:t>
            </a:r>
            <a:r>
              <a:rPr lang="ko-KR" alt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하는 지방세포를 부수는 </a:t>
            </a:r>
            <a:r>
              <a:rPr lang="ko-KR" altLang="en-US" sz="960" dirty="0" err="1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캐비테이션</a:t>
            </a:r>
            <a:r>
              <a:rPr lang="ko-KR" alt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기기 관리 추가</a:t>
            </a:r>
            <a:endParaRPr lang="en-US" sz="960" dirty="0"/>
          </a:p>
        </p:txBody>
      </p:sp>
      <p:sp>
        <p:nvSpPr>
          <p:cNvPr id="32" name="Text 29"/>
          <p:cNvSpPr/>
          <p:nvPr/>
        </p:nvSpPr>
        <p:spPr>
          <a:xfrm>
            <a:off x="1335024" y="7726680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84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20분 · </a:t>
            </a:r>
            <a:r>
              <a:rPr lang="ko-KR" altLang="en-US" sz="84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지방 파괴</a:t>
            </a:r>
            <a:endParaRPr lang="en-US" sz="840" dirty="0"/>
          </a:p>
        </p:txBody>
      </p:sp>
      <p:sp>
        <p:nvSpPr>
          <p:cNvPr id="33" name="Text 30"/>
          <p:cNvSpPr/>
          <p:nvPr/>
        </p:nvSpPr>
        <p:spPr>
          <a:xfrm>
            <a:off x="5285232" y="680313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2F251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20,000</a:t>
            </a:r>
            <a:r>
              <a:rPr lang="ko-KR" altLang="en-US" sz="1350" b="1" dirty="0">
                <a:solidFill>
                  <a:srgbClr val="2F251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원</a:t>
            </a:r>
            <a:endParaRPr lang="en-US" sz="1350" dirty="0"/>
          </a:p>
        </p:txBody>
      </p:sp>
      <p:sp>
        <p:nvSpPr>
          <p:cNvPr id="34" name="Shape 31"/>
          <p:cNvSpPr/>
          <p:nvPr/>
        </p:nvSpPr>
        <p:spPr>
          <a:xfrm>
            <a:off x="658368" y="9802368"/>
            <a:ext cx="6245352" cy="0"/>
          </a:xfrm>
          <a:prstGeom prst="line">
            <a:avLst/>
          </a:prstGeom>
          <a:noFill/>
          <a:ln w="5715">
            <a:solidFill>
              <a:srgbClr val="D6B46A">
                <a:alpha val="6200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58368" y="9976104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830" dirty="0">
                <a:solidFill>
                  <a:srgbClr val="8D7A6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근막과 근육 순환으로 고민하던 피부, 통증 문제가 개선됩니다.</a:t>
            </a:r>
            <a:endParaRPr lang="en-US" sz="830" dirty="0"/>
          </a:p>
        </p:txBody>
      </p:sp>
      <p:sp>
        <p:nvSpPr>
          <p:cNvPr id="36" name="Text 33"/>
          <p:cNvSpPr/>
          <p:nvPr/>
        </p:nvSpPr>
        <p:spPr>
          <a:xfrm>
            <a:off x="5650992" y="9976104"/>
            <a:ext cx="1252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2000"/>
              </a:lnSpc>
              <a:buNone/>
            </a:pPr>
            <a:r>
              <a:rPr lang="en-US" sz="740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OMOKGYO · PREMIUM CARE</a:t>
            </a:r>
            <a:endParaRPr lang="en-US" sz="7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B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inimal_luxury_background_stationery_sce.png"/>
          <p:cNvPicPr>
            <a:picLocks noChangeAspect="1"/>
          </p:cNvPicPr>
          <p:nvPr/>
        </p:nvPicPr>
        <p:blipFill>
          <a:blip r:embed="rId3"/>
          <a:srcRect l="10" r="10"/>
          <a:stretch/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56032" y="256032"/>
            <a:ext cx="7050024" cy="10177272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D6B46A">
                <a:alpha val="82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56692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LEEDS BEAUTY STUDIO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053328" y="539496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PAGE 04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658368" y="932688"/>
            <a:ext cx="6245352" cy="0"/>
          </a:xfrm>
          <a:prstGeom prst="line">
            <a:avLst/>
          </a:prstGeom>
          <a:noFill/>
          <a:ln w="7620">
            <a:solidFill>
              <a:srgbClr val="D6B46A">
                <a:alpha val="72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126187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800" b="1" dirty="0">
                <a:solidFill>
                  <a:srgbClr val="4B3524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SCALP &amp; ENERGY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85800" y="18745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2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두피부터 페이스까지 순환을 깨우는 에너지 테라피</a:t>
            </a:r>
            <a:endParaRPr lang="en-US" sz="1220" dirty="0"/>
          </a:p>
        </p:txBody>
      </p:sp>
      <p:sp>
        <p:nvSpPr>
          <p:cNvPr id="9" name="Shape 6"/>
          <p:cNvSpPr/>
          <p:nvPr/>
        </p:nvSpPr>
        <p:spPr>
          <a:xfrm>
            <a:off x="658368" y="2340864"/>
            <a:ext cx="2359152" cy="0"/>
          </a:xfrm>
          <a:prstGeom prst="line">
            <a:avLst/>
          </a:prstGeom>
          <a:noFill/>
          <a:ln w="12700">
            <a:solidFill>
              <a:srgbClr val="B8904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04672" y="2898648"/>
            <a:ext cx="5943600" cy="0"/>
          </a:xfrm>
          <a:prstGeom prst="line">
            <a:avLst/>
          </a:prstGeom>
          <a:noFill/>
          <a:ln w="4445">
            <a:solidFill>
              <a:srgbClr val="D6B46A">
                <a:alpha val="5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" y="3017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335024" y="29718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두피 </a:t>
            </a:r>
            <a:r>
              <a:rPr lang="en-US" sz="1450" b="1" dirty="0" err="1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에너지</a:t>
            </a:r>
            <a:r>
              <a:rPr lang="en-US" sz="1450" b="1" dirty="0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</a:t>
            </a:r>
            <a:r>
              <a:rPr lang="ko-KR" altLang="en-US" sz="1450" b="1" dirty="0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케어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335024" y="3328416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두피 순환과 긴장 완화를 중심으로 얼굴 컨디션까지 가볍게 정돈.</a:t>
            </a:r>
            <a:endParaRPr lang="en-US" sz="960" dirty="0"/>
          </a:p>
        </p:txBody>
      </p:sp>
      <p:sp>
        <p:nvSpPr>
          <p:cNvPr id="14" name="Text 11"/>
          <p:cNvSpPr/>
          <p:nvPr/>
        </p:nvSpPr>
        <p:spPr>
          <a:xfrm>
            <a:off x="1335024" y="3922776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92000"/>
              </a:lnSpc>
            </a:pPr>
            <a:r>
              <a:rPr lang="en-US" altLang="ko-KR" sz="84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30</a:t>
            </a:r>
            <a:r>
              <a:rPr lang="ko-KR" altLang="en-US" sz="84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분</a:t>
            </a:r>
            <a:r>
              <a:rPr lang="en-US" altLang="ko-KR" sz="84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· </a:t>
            </a:r>
            <a:r>
              <a:rPr lang="ko-KR" altLang="en-US" sz="84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</a:t>
            </a:r>
            <a:r>
              <a:rPr lang="en-US" sz="840" b="1" dirty="0" err="1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부분관리</a:t>
            </a:r>
            <a:r>
              <a:rPr lang="en-US" sz="84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· 두피순환 · 릴렉싱</a:t>
            </a:r>
            <a:endParaRPr lang="en-US" sz="840" dirty="0"/>
          </a:p>
        </p:txBody>
      </p:sp>
      <p:sp>
        <p:nvSpPr>
          <p:cNvPr id="15" name="Text 12"/>
          <p:cNvSpPr/>
          <p:nvPr/>
        </p:nvSpPr>
        <p:spPr>
          <a:xfrm>
            <a:off x="5285232" y="299923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2F251E"/>
                </a:solidFill>
                <a:latin typeface="NanumSquare" pitchFamily="34" charset="0"/>
                <a:ea typeface="NanumSquare" pitchFamily="34" charset="-122"/>
              </a:rPr>
              <a:t>35,000</a:t>
            </a:r>
            <a:r>
              <a:rPr lang="ko-KR" altLang="en-US" sz="1350" b="1" dirty="0">
                <a:solidFill>
                  <a:srgbClr val="2F251E"/>
                </a:solidFill>
                <a:latin typeface="NanumSquare" pitchFamily="34" charset="0"/>
                <a:ea typeface="NanumSquare" pitchFamily="34" charset="-122"/>
              </a:rPr>
              <a:t>원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804672" y="4471416"/>
            <a:ext cx="5943600" cy="0"/>
          </a:xfrm>
          <a:prstGeom prst="line">
            <a:avLst/>
          </a:prstGeom>
          <a:noFill/>
          <a:ln w="4445">
            <a:solidFill>
              <a:srgbClr val="D6B46A">
                <a:alpha val="58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6384" y="459028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335024" y="454456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두피 + </a:t>
            </a:r>
            <a:r>
              <a:rPr lang="en-US" sz="1450" b="1" dirty="0" err="1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페이스</a:t>
            </a:r>
            <a:r>
              <a:rPr lang="en-US" sz="1450" b="1" dirty="0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</a:t>
            </a:r>
            <a:r>
              <a:rPr lang="ko-KR" altLang="en-US" sz="1450" b="1" dirty="0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에너지 </a:t>
            </a:r>
            <a:r>
              <a:rPr lang="en-US" sz="1450" b="1" dirty="0" err="1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케어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1335024" y="4901184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두피, 페이스 라인을 연결해 부종감과 윤곽 고민을 함께 관리.</a:t>
            </a:r>
            <a:endParaRPr lang="en-US" sz="960" dirty="0"/>
          </a:p>
        </p:txBody>
      </p:sp>
      <p:sp>
        <p:nvSpPr>
          <p:cNvPr id="20" name="Text 17"/>
          <p:cNvSpPr/>
          <p:nvPr/>
        </p:nvSpPr>
        <p:spPr>
          <a:xfrm>
            <a:off x="1335024" y="5495544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84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45분 · 두피 · 얼굴 · 에너지 테라피</a:t>
            </a:r>
            <a:endParaRPr lang="en-US" sz="840" dirty="0"/>
          </a:p>
        </p:txBody>
      </p:sp>
      <p:sp>
        <p:nvSpPr>
          <p:cNvPr id="21" name="Text 18"/>
          <p:cNvSpPr/>
          <p:nvPr/>
        </p:nvSpPr>
        <p:spPr>
          <a:xfrm>
            <a:off x="5285232" y="45720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2000"/>
              </a:lnSpc>
              <a:buNone/>
            </a:pPr>
            <a:r>
              <a:rPr lang="en-US" sz="1350" b="1">
                <a:solidFill>
                  <a:srgbClr val="2F251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5</a:t>
            </a:r>
            <a:r>
              <a:rPr lang="en-US" sz="1350" b="1" dirty="0">
                <a:solidFill>
                  <a:srgbClr val="2F251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5</a:t>
            </a:r>
            <a:r>
              <a:rPr lang="en-US" sz="1350" b="1">
                <a:solidFill>
                  <a:srgbClr val="2F251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,000</a:t>
            </a:r>
            <a:r>
              <a:rPr lang="en-US" sz="1350" b="1" dirty="0">
                <a:solidFill>
                  <a:srgbClr val="2F251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원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804672" y="6044184"/>
            <a:ext cx="5943600" cy="0"/>
          </a:xfrm>
          <a:prstGeom prst="line">
            <a:avLst/>
          </a:prstGeom>
          <a:noFill/>
          <a:ln w="4445">
            <a:solidFill>
              <a:srgbClr val="D6B46A">
                <a:alpha val="58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86384" y="6163056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335024" y="611733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ko-KR" altLang="en-US" sz="1450" b="1" dirty="0" err="1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멜라겐</a:t>
            </a:r>
            <a:r>
              <a:rPr lang="ko-KR" altLang="en-US" sz="1450" b="1" dirty="0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</a:t>
            </a:r>
            <a:r>
              <a:rPr lang="ko-KR" altLang="en-US" sz="1450" b="1" dirty="0" err="1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화이트닝</a:t>
            </a:r>
            <a:r>
              <a:rPr lang="ko-KR" altLang="en-US" sz="1450" b="1" dirty="0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케어 </a:t>
            </a:r>
            <a:r>
              <a:rPr lang="en-US" altLang="ko-KR" sz="1450" b="1" dirty="0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(</a:t>
            </a:r>
            <a:r>
              <a:rPr lang="ko-KR" altLang="en-US" sz="1450" b="1" dirty="0" err="1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재생케어</a:t>
            </a:r>
            <a:r>
              <a:rPr lang="en-US" altLang="ko-KR" sz="1450" b="1" dirty="0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)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1335024" y="6473952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피부 컨디션에 </a:t>
            </a:r>
            <a:r>
              <a:rPr lang="en-US" sz="960" dirty="0" err="1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맞춰</a:t>
            </a:r>
            <a:r>
              <a:rPr 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</a:t>
            </a:r>
            <a:r>
              <a:rPr lang="en-US" sz="960" dirty="0" err="1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활용하는</a:t>
            </a:r>
            <a:r>
              <a:rPr 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</a:t>
            </a:r>
            <a:r>
              <a:rPr lang="en-US" sz="960" dirty="0" err="1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진정</a:t>
            </a:r>
            <a:r>
              <a:rPr 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·</a:t>
            </a:r>
            <a:r>
              <a:rPr lang="ko-KR" alt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재생</a:t>
            </a:r>
            <a:r>
              <a:rPr lang="en-US" sz="960" dirty="0" err="1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보조</a:t>
            </a:r>
            <a:r>
              <a:rPr 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케어.</a:t>
            </a:r>
            <a:endParaRPr lang="en-US" sz="960" dirty="0"/>
          </a:p>
        </p:txBody>
      </p:sp>
      <p:sp>
        <p:nvSpPr>
          <p:cNvPr id="26" name="Text 23"/>
          <p:cNvSpPr/>
          <p:nvPr/>
        </p:nvSpPr>
        <p:spPr>
          <a:xfrm>
            <a:off x="1335024" y="7068312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92000"/>
              </a:lnSpc>
            </a:pPr>
            <a:r>
              <a:rPr lang="en-US" sz="84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20분 · </a:t>
            </a:r>
            <a:r>
              <a:rPr lang="ko-KR" altLang="en-US" sz="840" b="1" dirty="0" err="1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화이트닝</a:t>
            </a:r>
            <a:r>
              <a:rPr lang="ko-KR" altLang="en-US" sz="84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</a:t>
            </a:r>
            <a:r>
              <a:rPr lang="en-US" altLang="ko-KR" sz="84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· </a:t>
            </a:r>
            <a:r>
              <a:rPr lang="en-US" sz="840" b="1" dirty="0" err="1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진정</a:t>
            </a:r>
            <a:r>
              <a:rPr lang="en-US" sz="84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· </a:t>
            </a:r>
            <a:r>
              <a:rPr lang="ko-KR" altLang="en-US" sz="84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재생</a:t>
            </a:r>
            <a:endParaRPr lang="en-US" sz="840" dirty="0"/>
          </a:p>
        </p:txBody>
      </p:sp>
      <p:sp>
        <p:nvSpPr>
          <p:cNvPr id="27" name="Text 24"/>
          <p:cNvSpPr/>
          <p:nvPr/>
        </p:nvSpPr>
        <p:spPr>
          <a:xfrm>
            <a:off x="5285232" y="614476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2F251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10,000</a:t>
            </a:r>
            <a:r>
              <a:rPr lang="ko-KR" altLang="en-US" sz="1350" b="1" dirty="0">
                <a:solidFill>
                  <a:srgbClr val="2F251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원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658368" y="9802368"/>
            <a:ext cx="6245352" cy="0"/>
          </a:xfrm>
          <a:prstGeom prst="line">
            <a:avLst/>
          </a:prstGeom>
          <a:noFill/>
          <a:ln w="5715">
            <a:solidFill>
              <a:srgbClr val="D6B46A">
                <a:alpha val="62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58368" y="9976104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830" dirty="0">
                <a:solidFill>
                  <a:srgbClr val="8D7A6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근막과 근육 순환으로 고민하던 피부, 통증 문제가 개선됩니다.</a:t>
            </a:r>
            <a:endParaRPr lang="en-US" sz="830" dirty="0"/>
          </a:p>
        </p:txBody>
      </p:sp>
      <p:sp>
        <p:nvSpPr>
          <p:cNvPr id="30" name="Text 27"/>
          <p:cNvSpPr/>
          <p:nvPr/>
        </p:nvSpPr>
        <p:spPr>
          <a:xfrm>
            <a:off x="5650992" y="9976104"/>
            <a:ext cx="1252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2000"/>
              </a:lnSpc>
              <a:buNone/>
            </a:pPr>
            <a:r>
              <a:rPr lang="en-US" sz="740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OMOKGYO · PREMIUM CARE</a:t>
            </a:r>
            <a:endParaRPr lang="en-US" sz="7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B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inimal_luxury_background_stationery_sce.png"/>
          <p:cNvPicPr>
            <a:picLocks noChangeAspect="1"/>
          </p:cNvPicPr>
          <p:nvPr/>
        </p:nvPicPr>
        <p:blipFill>
          <a:blip r:embed="rId3"/>
          <a:srcRect l="10" r="10"/>
          <a:stretch/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56032" y="256032"/>
            <a:ext cx="7050024" cy="10177272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D6B46A">
                <a:alpha val="82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56692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LEEDS BEAUTY STUDIO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053328" y="539496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POINT CARE 06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658368" y="932688"/>
            <a:ext cx="6245352" cy="0"/>
          </a:xfrm>
          <a:prstGeom prst="line">
            <a:avLst/>
          </a:prstGeom>
          <a:noFill/>
          <a:ln w="7620">
            <a:solidFill>
              <a:srgbClr val="D6B46A">
                <a:alpha val="72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126187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800" b="1" dirty="0">
                <a:solidFill>
                  <a:srgbClr val="4B3524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POINT CARE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85800" y="18745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2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부담 없이 더하는 리즈뷰티 포인트 옵션</a:t>
            </a:r>
            <a:endParaRPr lang="en-US" sz="1220" dirty="0"/>
          </a:p>
        </p:txBody>
      </p:sp>
      <p:sp>
        <p:nvSpPr>
          <p:cNvPr id="9" name="Shape 6"/>
          <p:cNvSpPr/>
          <p:nvPr/>
        </p:nvSpPr>
        <p:spPr>
          <a:xfrm>
            <a:off x="658368" y="2340864"/>
            <a:ext cx="2359152" cy="0"/>
          </a:xfrm>
          <a:prstGeom prst="line">
            <a:avLst/>
          </a:prstGeom>
          <a:noFill/>
          <a:ln w="12700">
            <a:solidFill>
              <a:srgbClr val="B8904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04672" y="2898648"/>
            <a:ext cx="5943600" cy="0"/>
          </a:xfrm>
          <a:prstGeom prst="line">
            <a:avLst/>
          </a:prstGeom>
          <a:noFill/>
          <a:ln w="4445">
            <a:solidFill>
              <a:srgbClr val="D6B46A">
                <a:alpha val="5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" y="3017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335024" y="29718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92000"/>
              </a:lnSpc>
            </a:pPr>
            <a:r>
              <a:rPr lang="en-US" altLang="ko-KR" sz="1450" b="1" dirty="0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[</a:t>
            </a:r>
            <a:r>
              <a:rPr lang="ko-KR" altLang="en-US" sz="1450" b="1" dirty="0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옵션</a:t>
            </a:r>
            <a:r>
              <a:rPr lang="en-US" altLang="ko-KR" sz="1450" b="1" dirty="0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] </a:t>
            </a:r>
            <a:r>
              <a:rPr lang="en-US" sz="1450" b="1" dirty="0" err="1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멜라겐</a:t>
            </a:r>
            <a:r>
              <a:rPr lang="en-US" sz="1450" b="1" dirty="0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화이트닝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335024" y="3328416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칙칙한 톤과 국소 색소 고민 부위에 짧고 부담 없이 더하는 화이트닝 케어.</a:t>
            </a:r>
            <a:endParaRPr lang="en-US" sz="960" dirty="0"/>
          </a:p>
        </p:txBody>
      </p:sp>
      <p:sp>
        <p:nvSpPr>
          <p:cNvPr id="14" name="Text 11"/>
          <p:cNvSpPr/>
          <p:nvPr/>
        </p:nvSpPr>
        <p:spPr>
          <a:xfrm>
            <a:off x="1335024" y="3922776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84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20분 · </a:t>
            </a:r>
            <a:r>
              <a:rPr lang="en-US" sz="840" b="1" dirty="0" err="1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브라이트닝</a:t>
            </a:r>
            <a:endParaRPr lang="en-US" sz="840" dirty="0"/>
          </a:p>
        </p:txBody>
      </p:sp>
      <p:sp>
        <p:nvSpPr>
          <p:cNvPr id="15" name="Text 12"/>
          <p:cNvSpPr/>
          <p:nvPr/>
        </p:nvSpPr>
        <p:spPr>
          <a:xfrm>
            <a:off x="5285232" y="299923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2F251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10,000원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804672" y="4471416"/>
            <a:ext cx="5943600" cy="0"/>
          </a:xfrm>
          <a:prstGeom prst="line">
            <a:avLst/>
          </a:prstGeom>
          <a:noFill/>
          <a:ln w="4445">
            <a:solidFill>
              <a:srgbClr val="D6B46A">
                <a:alpha val="58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6384" y="459028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335024" y="454456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92000"/>
              </a:lnSpc>
            </a:pPr>
            <a:r>
              <a:rPr lang="en-US" altLang="ko-KR" sz="1450" b="1" dirty="0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[</a:t>
            </a:r>
            <a:r>
              <a:rPr lang="ko-KR" altLang="en-US" sz="1450" b="1" dirty="0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옵션</a:t>
            </a:r>
            <a:r>
              <a:rPr lang="en-US" altLang="ko-KR" sz="1450" b="1" dirty="0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] </a:t>
            </a:r>
            <a:r>
              <a:rPr lang="ko-KR" altLang="en-US" sz="1450" b="1" dirty="0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원적외선 </a:t>
            </a:r>
            <a:r>
              <a:rPr lang="ko-KR" altLang="en-US" sz="1450" b="1" dirty="0" err="1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온열</a:t>
            </a:r>
            <a:r>
              <a:rPr lang="ko-KR" altLang="en-US" sz="1450" b="1" dirty="0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케어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1335024" y="4901184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960" dirty="0" err="1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관리</a:t>
            </a:r>
            <a:r>
              <a:rPr 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</a:t>
            </a:r>
            <a:r>
              <a:rPr lang="ko-KR" alt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전후 몸을 이완하는</a:t>
            </a:r>
            <a:r>
              <a:rPr 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</a:t>
            </a:r>
            <a:r>
              <a:rPr lang="en-US" sz="960" dirty="0" err="1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옵션</a:t>
            </a:r>
            <a:r>
              <a:rPr 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.</a:t>
            </a:r>
            <a:endParaRPr lang="en-US" sz="960" dirty="0"/>
          </a:p>
        </p:txBody>
      </p:sp>
      <p:sp>
        <p:nvSpPr>
          <p:cNvPr id="20" name="Text 17"/>
          <p:cNvSpPr/>
          <p:nvPr/>
        </p:nvSpPr>
        <p:spPr>
          <a:xfrm>
            <a:off x="1335024" y="5495544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84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15분 · </a:t>
            </a:r>
            <a:r>
              <a:rPr lang="ko-KR" altLang="en-US" sz="84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근육이완</a:t>
            </a:r>
            <a:r>
              <a:rPr lang="en-US" sz="84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· 컨디션 회복</a:t>
            </a:r>
            <a:endParaRPr lang="en-US" sz="840" dirty="0"/>
          </a:p>
        </p:txBody>
      </p:sp>
      <p:sp>
        <p:nvSpPr>
          <p:cNvPr id="21" name="Text 18"/>
          <p:cNvSpPr/>
          <p:nvPr/>
        </p:nvSpPr>
        <p:spPr>
          <a:xfrm>
            <a:off x="5285232" y="45720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2F251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5,000</a:t>
            </a:r>
            <a:r>
              <a:rPr lang="ko-KR" altLang="en-US" sz="1350" b="1" dirty="0">
                <a:solidFill>
                  <a:srgbClr val="2F251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원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804672" y="6044184"/>
            <a:ext cx="5943600" cy="0"/>
          </a:xfrm>
          <a:prstGeom prst="line">
            <a:avLst/>
          </a:prstGeom>
          <a:noFill/>
          <a:ln w="4445">
            <a:solidFill>
              <a:srgbClr val="D6B46A">
                <a:alpha val="58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86384" y="6163056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335024" y="611733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[</a:t>
            </a:r>
            <a:r>
              <a:rPr lang="ko-KR" altLang="en-US" sz="1450" b="1" dirty="0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옵션</a:t>
            </a:r>
            <a:r>
              <a:rPr lang="en-US" altLang="ko-KR" sz="1450" b="1" dirty="0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] </a:t>
            </a:r>
            <a:r>
              <a:rPr lang="en-US" sz="1450" b="1" dirty="0" err="1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앰플</a:t>
            </a:r>
            <a:r>
              <a:rPr lang="en-US" sz="1450" b="1" dirty="0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</a:t>
            </a:r>
            <a:r>
              <a:rPr lang="en-US" sz="1450" b="1" dirty="0" err="1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집중</a:t>
            </a:r>
            <a:r>
              <a:rPr lang="en-US" sz="1450" b="1" dirty="0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</a:t>
            </a:r>
            <a:r>
              <a:rPr lang="ko-KR" altLang="en-US" sz="1450" b="1" dirty="0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흡수 케어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1335024" y="6473952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피부 컨디션에 맞춰 보습, 진정, 탄력 앰플을 선택 적용.</a:t>
            </a:r>
            <a:endParaRPr lang="en-US" sz="960" dirty="0"/>
          </a:p>
        </p:txBody>
      </p:sp>
      <p:sp>
        <p:nvSpPr>
          <p:cNvPr id="26" name="Text 23"/>
          <p:cNvSpPr/>
          <p:nvPr/>
        </p:nvSpPr>
        <p:spPr>
          <a:xfrm>
            <a:off x="1335024" y="7068312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84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관리별 추가 가능</a:t>
            </a:r>
            <a:endParaRPr lang="en-US" sz="840" dirty="0"/>
          </a:p>
        </p:txBody>
      </p:sp>
      <p:sp>
        <p:nvSpPr>
          <p:cNvPr id="27" name="Text 24"/>
          <p:cNvSpPr/>
          <p:nvPr/>
        </p:nvSpPr>
        <p:spPr>
          <a:xfrm>
            <a:off x="5285232" y="614476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2F251E"/>
                </a:solidFill>
                <a:latin typeface="NanumSquare" pitchFamily="34" charset="0"/>
                <a:ea typeface="NanumSquare" pitchFamily="34" charset="-122"/>
              </a:rPr>
              <a:t>30,000</a:t>
            </a:r>
            <a:r>
              <a:rPr lang="ko-KR" altLang="en-US" sz="1350" b="1" dirty="0">
                <a:solidFill>
                  <a:srgbClr val="2F251E"/>
                </a:solidFill>
                <a:latin typeface="NanumSquare" pitchFamily="34" charset="0"/>
                <a:ea typeface="NanumSquare" pitchFamily="34" charset="-122"/>
              </a:rPr>
              <a:t>원 </a:t>
            </a:r>
            <a:r>
              <a:rPr lang="en-US" altLang="ko-KR" sz="1350" b="1" dirty="0">
                <a:solidFill>
                  <a:srgbClr val="2F251E"/>
                </a:solidFill>
                <a:latin typeface="NanumSquare" pitchFamily="34" charset="0"/>
                <a:ea typeface="NanumSquare" pitchFamily="34" charset="-122"/>
              </a:rPr>
              <a:t>~ 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658368" y="9802368"/>
            <a:ext cx="6245352" cy="0"/>
          </a:xfrm>
          <a:prstGeom prst="line">
            <a:avLst/>
          </a:prstGeom>
          <a:noFill/>
          <a:ln w="5715">
            <a:solidFill>
              <a:srgbClr val="D6B46A">
                <a:alpha val="62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58368" y="9976104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830" dirty="0">
                <a:solidFill>
                  <a:srgbClr val="8D7A6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근막과 근육 순환으로 고민하던 피부, 통증 문제가 개선됩니다.</a:t>
            </a:r>
            <a:endParaRPr lang="en-US" sz="830" dirty="0"/>
          </a:p>
        </p:txBody>
      </p:sp>
      <p:sp>
        <p:nvSpPr>
          <p:cNvPr id="30" name="Text 27"/>
          <p:cNvSpPr/>
          <p:nvPr/>
        </p:nvSpPr>
        <p:spPr>
          <a:xfrm>
            <a:off x="5650992" y="9976104"/>
            <a:ext cx="1252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2000"/>
              </a:lnSpc>
              <a:buNone/>
            </a:pPr>
            <a:r>
              <a:rPr lang="en-US" sz="740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OMOKGYO · PREMIUM CARE</a:t>
            </a:r>
            <a:endParaRPr lang="en-US" sz="7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B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inimal_luxury_background_stationery_sce.png"/>
          <p:cNvPicPr>
            <a:picLocks noChangeAspect="1"/>
          </p:cNvPicPr>
          <p:nvPr/>
        </p:nvPicPr>
        <p:blipFill>
          <a:blip r:embed="rId3"/>
          <a:srcRect l="10" r="10"/>
          <a:stretch/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56032" y="256032"/>
            <a:ext cx="7050024" cy="10177272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D6B46A">
                <a:alpha val="82000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1"/>
          <p:cNvSpPr/>
          <p:nvPr/>
        </p:nvSpPr>
        <p:spPr>
          <a:xfrm>
            <a:off x="658368" y="56692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LEEDS BEAUTY STUDIO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053328" y="539496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PAGE 07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658368" y="932688"/>
            <a:ext cx="6245352" cy="0"/>
          </a:xfrm>
          <a:prstGeom prst="line">
            <a:avLst/>
          </a:prstGeom>
          <a:noFill/>
          <a:ln w="7620">
            <a:solidFill>
              <a:srgbClr val="D6B46A">
                <a:alpha val="72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126187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800" b="1" dirty="0">
                <a:solidFill>
                  <a:srgbClr val="4B3524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PEDI PLANNING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85800" y="18745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ko-KR" altLang="en-US" sz="1220" dirty="0" err="1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발각질</a:t>
            </a:r>
            <a:r>
              <a:rPr lang="en-US" sz="122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</a:t>
            </a:r>
            <a:r>
              <a:rPr lang="en-US" sz="1220" dirty="0" err="1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집중</a:t>
            </a:r>
            <a:r>
              <a:rPr lang="en-US" sz="122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케</a:t>
            </a:r>
            <a:r>
              <a:rPr lang="ko-KR" altLang="en-US" sz="122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어</a:t>
            </a:r>
            <a:endParaRPr lang="en-US" sz="1220" dirty="0"/>
          </a:p>
        </p:txBody>
      </p:sp>
      <p:sp>
        <p:nvSpPr>
          <p:cNvPr id="9" name="Shape 6"/>
          <p:cNvSpPr/>
          <p:nvPr/>
        </p:nvSpPr>
        <p:spPr>
          <a:xfrm>
            <a:off x="658368" y="2340864"/>
            <a:ext cx="2359152" cy="0"/>
          </a:xfrm>
          <a:prstGeom prst="line">
            <a:avLst/>
          </a:prstGeom>
          <a:noFill/>
          <a:ln w="12700">
            <a:solidFill>
              <a:srgbClr val="B8904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04672" y="2898648"/>
            <a:ext cx="5943600" cy="0"/>
          </a:xfrm>
          <a:prstGeom prst="line">
            <a:avLst/>
          </a:prstGeom>
          <a:noFill/>
          <a:ln w="4445">
            <a:solidFill>
              <a:srgbClr val="D6B46A">
                <a:alpha val="5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" y="3017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335024" y="29718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패디 플래닝 · 여성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335024" y="3328416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960" dirty="0">
                <a:solidFill>
                  <a:srgbClr val="7E6B5B"/>
                </a:solidFill>
                <a:ea typeface="NanumSquare" pitchFamily="34" charset="-122"/>
                <a:cs typeface="NanumSquare" pitchFamily="34" charset="-120"/>
              </a:rPr>
              <a:t>발바닥 각질과 표면 거칠음을 정돈해 매끈하고 위생적인 발 컨디션으로 </a:t>
            </a:r>
            <a:r>
              <a:rPr lang="en-US" sz="960" dirty="0" err="1">
                <a:solidFill>
                  <a:srgbClr val="7E6B5B"/>
                </a:solidFill>
                <a:ea typeface="NanumSquare" pitchFamily="34" charset="-122"/>
                <a:cs typeface="NanumSquare" pitchFamily="34" charset="-120"/>
              </a:rPr>
              <a:t>관리</a:t>
            </a:r>
            <a:r>
              <a:rPr lang="en-US" sz="960" dirty="0">
                <a:solidFill>
                  <a:srgbClr val="7E6B5B"/>
                </a:solidFill>
                <a:ea typeface="NanumSquare" pitchFamily="34" charset="-122"/>
                <a:cs typeface="NanumSquare" pitchFamily="34" charset="-120"/>
              </a:rPr>
              <a:t>.</a:t>
            </a:r>
          </a:p>
          <a:p>
            <a:pPr marL="0" indent="0" algn="l">
              <a:lnSpc>
                <a:spcPct val="86000"/>
              </a:lnSpc>
              <a:buNone/>
            </a:pPr>
            <a:endParaRPr lang="en-US" sz="960" dirty="0">
              <a:solidFill>
                <a:srgbClr val="7E6B5B"/>
              </a:solidFill>
              <a:ea typeface="NanumSquare" pitchFamily="34" charset="-122"/>
            </a:endParaRPr>
          </a:p>
          <a:p>
            <a:pPr marL="0" indent="0" algn="l">
              <a:lnSpc>
                <a:spcPct val="86000"/>
              </a:lnSpc>
              <a:buNone/>
            </a:pPr>
            <a:r>
              <a:rPr lang="en-US" sz="960" dirty="0"/>
              <a:t>* </a:t>
            </a:r>
            <a:r>
              <a:rPr lang="ko-KR" altLang="en-US" sz="960" dirty="0"/>
              <a:t>각질의 정도에 따라 추가비용이 발생될 수 있습니다</a:t>
            </a:r>
            <a:r>
              <a:rPr lang="en-US" altLang="ko-KR" sz="960" dirty="0"/>
              <a:t>.</a:t>
            </a:r>
            <a:endParaRPr lang="en-US" sz="960" dirty="0"/>
          </a:p>
        </p:txBody>
      </p:sp>
      <p:sp>
        <p:nvSpPr>
          <p:cNvPr id="14" name="Text 11"/>
          <p:cNvSpPr/>
          <p:nvPr/>
        </p:nvSpPr>
        <p:spPr>
          <a:xfrm>
            <a:off x="1335024" y="3922776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84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30분 · 발각질 · 표면정리</a:t>
            </a:r>
            <a:endParaRPr lang="en-US" sz="840" dirty="0"/>
          </a:p>
        </p:txBody>
      </p:sp>
      <p:sp>
        <p:nvSpPr>
          <p:cNvPr id="15" name="Text 12"/>
          <p:cNvSpPr/>
          <p:nvPr/>
        </p:nvSpPr>
        <p:spPr>
          <a:xfrm>
            <a:off x="5285232" y="299923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2F251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45,000원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804672" y="4471416"/>
            <a:ext cx="5943600" cy="0"/>
          </a:xfrm>
          <a:prstGeom prst="line">
            <a:avLst/>
          </a:prstGeom>
          <a:noFill/>
          <a:ln w="4445">
            <a:solidFill>
              <a:srgbClr val="D6B46A">
                <a:alpha val="58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6384" y="459028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335024" y="454456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남성 발각질 케어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1335024" y="4901184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960" dirty="0">
                <a:solidFill>
                  <a:srgbClr val="7E6B5B"/>
                </a:solidFill>
                <a:ea typeface="NanumSquare" pitchFamily="34" charset="-122"/>
                <a:cs typeface="NanumSquare" pitchFamily="34" charset="-120"/>
              </a:rPr>
              <a:t>두꺼운 각질과 굳은살을 중심으로 더 꼼꼼하게 정돈하는 남성 전용 </a:t>
            </a:r>
            <a:r>
              <a:rPr lang="en-US" sz="960" dirty="0" err="1">
                <a:solidFill>
                  <a:srgbClr val="7E6B5B"/>
                </a:solidFill>
                <a:ea typeface="NanumSquare" pitchFamily="34" charset="-122"/>
                <a:cs typeface="NanumSquare" pitchFamily="34" charset="-120"/>
              </a:rPr>
              <a:t>케어</a:t>
            </a:r>
            <a:r>
              <a:rPr lang="en-US" sz="960" dirty="0">
                <a:solidFill>
                  <a:srgbClr val="7E6B5B"/>
                </a:solidFill>
                <a:ea typeface="NanumSquare" pitchFamily="34" charset="-122"/>
                <a:cs typeface="NanumSquare" pitchFamily="34" charset="-120"/>
              </a:rPr>
              <a:t>.</a:t>
            </a:r>
          </a:p>
          <a:p>
            <a:pPr marL="0" indent="0" algn="l">
              <a:lnSpc>
                <a:spcPct val="86000"/>
              </a:lnSpc>
              <a:buNone/>
            </a:pPr>
            <a:endParaRPr lang="en-US" sz="960" dirty="0">
              <a:solidFill>
                <a:srgbClr val="7E6B5B"/>
              </a:solidFill>
              <a:ea typeface="NanumSquare" pitchFamily="34" charset="-122"/>
            </a:endParaRPr>
          </a:p>
          <a:p>
            <a:pPr>
              <a:lnSpc>
                <a:spcPct val="86000"/>
              </a:lnSpc>
            </a:pPr>
            <a:r>
              <a:rPr lang="en-US" altLang="ko-KR" sz="960" dirty="0"/>
              <a:t>* </a:t>
            </a:r>
            <a:r>
              <a:rPr lang="ko-KR" altLang="en-US" sz="960" dirty="0"/>
              <a:t>각질의 정도에 따라 추가비용이 발생될 수 있습니다</a:t>
            </a:r>
            <a:r>
              <a:rPr lang="en-US" altLang="ko-KR" sz="960" dirty="0"/>
              <a:t>.</a:t>
            </a:r>
            <a:endParaRPr lang="en-US" sz="960" dirty="0"/>
          </a:p>
        </p:txBody>
      </p:sp>
      <p:sp>
        <p:nvSpPr>
          <p:cNvPr id="20" name="Text 17"/>
          <p:cNvSpPr/>
          <p:nvPr/>
        </p:nvSpPr>
        <p:spPr>
          <a:xfrm>
            <a:off x="1335024" y="5495544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84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남성 전용 · 굳은살 · 발바닥 정리</a:t>
            </a:r>
            <a:endParaRPr lang="en-US" sz="840" dirty="0"/>
          </a:p>
        </p:txBody>
      </p:sp>
      <p:sp>
        <p:nvSpPr>
          <p:cNvPr id="21" name="Text 18"/>
          <p:cNvSpPr/>
          <p:nvPr/>
        </p:nvSpPr>
        <p:spPr>
          <a:xfrm>
            <a:off x="5285232" y="45720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2F251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55,000원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804672" y="6044184"/>
            <a:ext cx="5943600" cy="0"/>
          </a:xfrm>
          <a:prstGeom prst="line">
            <a:avLst/>
          </a:prstGeom>
          <a:noFill/>
          <a:ln w="4445">
            <a:solidFill>
              <a:srgbClr val="D6B46A">
                <a:alpha val="58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86384" y="6163056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335024" y="611733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450" b="1" dirty="0" err="1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굳은살</a:t>
            </a:r>
            <a:r>
              <a:rPr lang="en-US" sz="1450" b="1" dirty="0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</a:t>
            </a:r>
            <a:r>
              <a:rPr lang="en-US" sz="1450" b="1" dirty="0" err="1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집중</a:t>
            </a:r>
            <a:r>
              <a:rPr lang="en-US" sz="1450" b="1" dirty="0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</a:t>
            </a:r>
            <a:r>
              <a:rPr lang="ko-KR" altLang="en-US" sz="1450" b="1" dirty="0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포인트 케어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1335024" y="6473952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960" dirty="0" err="1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압박이</a:t>
            </a:r>
            <a:r>
              <a:rPr 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많은 부위의 </a:t>
            </a:r>
            <a:r>
              <a:rPr lang="en-US" sz="960" dirty="0" err="1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굳은살을</a:t>
            </a:r>
            <a:r>
              <a:rPr 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</a:t>
            </a:r>
            <a:r>
              <a:rPr lang="en-US" sz="960" dirty="0" err="1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집중</a:t>
            </a:r>
            <a:r>
              <a:rPr 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</a:t>
            </a:r>
            <a:r>
              <a:rPr lang="en-US" sz="960" dirty="0" err="1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케어</a:t>
            </a:r>
            <a:r>
              <a:rPr 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.</a:t>
            </a:r>
          </a:p>
          <a:p>
            <a:pPr marL="0" indent="0" algn="l">
              <a:lnSpc>
                <a:spcPct val="86000"/>
              </a:lnSpc>
              <a:buNone/>
            </a:pPr>
            <a:endParaRPr lang="en-US" sz="960" dirty="0">
              <a:solidFill>
                <a:srgbClr val="7E6B5B"/>
              </a:solidFill>
              <a:latin typeface="NanumSquare" pitchFamily="34" charset="0"/>
              <a:ea typeface="NanumSquare" pitchFamily="34" charset="-122"/>
            </a:endParaRPr>
          </a:p>
          <a:p>
            <a:pPr marL="0" indent="0" algn="l">
              <a:lnSpc>
                <a:spcPct val="86000"/>
              </a:lnSpc>
              <a:buNone/>
            </a:pPr>
            <a:r>
              <a:rPr 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</a:rPr>
              <a:t>*</a:t>
            </a:r>
            <a:r>
              <a:rPr lang="ko-KR" alt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</a:rPr>
              <a:t>굳은살의 크기</a:t>
            </a:r>
            <a:r>
              <a:rPr lang="en-US" altLang="ko-KR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</a:rPr>
              <a:t>, </a:t>
            </a:r>
            <a:r>
              <a:rPr lang="ko-KR" alt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</a:rPr>
              <a:t>깊이에 따라 추가 비용이 발생될 수 있습니다</a:t>
            </a:r>
            <a:r>
              <a:rPr lang="en-US" altLang="ko-KR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</a:rPr>
              <a:t>.</a:t>
            </a:r>
            <a:endParaRPr lang="en-US" sz="960" dirty="0">
              <a:solidFill>
                <a:srgbClr val="7E6B5B"/>
              </a:solidFill>
              <a:latin typeface="NanumSquare" pitchFamily="34" charset="0"/>
              <a:ea typeface="NanumSquare" pitchFamily="34" charset="-122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1335024" y="7068312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altLang="ko-KR" sz="84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10</a:t>
            </a:r>
            <a:r>
              <a:rPr lang="ko-KR" altLang="en-US" sz="84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분</a:t>
            </a:r>
            <a:r>
              <a:rPr lang="en-US" sz="84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· </a:t>
            </a:r>
            <a:r>
              <a:rPr lang="en-US" sz="840" b="1" dirty="0" err="1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집중</a:t>
            </a:r>
            <a:r>
              <a:rPr lang="en-US" sz="84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</a:t>
            </a:r>
            <a:r>
              <a:rPr lang="ko-KR" altLang="en-US" sz="84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부분 </a:t>
            </a:r>
            <a:r>
              <a:rPr lang="en-US" sz="840" b="1" dirty="0" err="1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케어</a:t>
            </a:r>
            <a:endParaRPr lang="en-US" sz="840" dirty="0"/>
          </a:p>
        </p:txBody>
      </p:sp>
      <p:sp>
        <p:nvSpPr>
          <p:cNvPr id="27" name="Text 24"/>
          <p:cNvSpPr/>
          <p:nvPr/>
        </p:nvSpPr>
        <p:spPr>
          <a:xfrm>
            <a:off x="5285232" y="614476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2F251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9,000</a:t>
            </a:r>
            <a:r>
              <a:rPr lang="ko-KR" altLang="en-US" sz="1350" b="1" dirty="0">
                <a:solidFill>
                  <a:srgbClr val="2F251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원 </a:t>
            </a:r>
            <a:r>
              <a:rPr lang="en-US" altLang="ko-KR" sz="1350" b="1" dirty="0">
                <a:solidFill>
                  <a:srgbClr val="2F251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~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658368" y="9802368"/>
            <a:ext cx="6245352" cy="0"/>
          </a:xfrm>
          <a:prstGeom prst="line">
            <a:avLst/>
          </a:prstGeom>
          <a:noFill/>
          <a:ln w="5715">
            <a:solidFill>
              <a:srgbClr val="D6B46A">
                <a:alpha val="62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58368" y="9976104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830" dirty="0">
                <a:solidFill>
                  <a:srgbClr val="8D7A6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근막과 근육 순환으로 고민하던 피부, 통증 문제가 개선됩니다.</a:t>
            </a:r>
            <a:endParaRPr lang="en-US" sz="830" dirty="0"/>
          </a:p>
        </p:txBody>
      </p:sp>
      <p:sp>
        <p:nvSpPr>
          <p:cNvPr id="30" name="Text 27"/>
          <p:cNvSpPr/>
          <p:nvPr/>
        </p:nvSpPr>
        <p:spPr>
          <a:xfrm>
            <a:off x="5650992" y="9976104"/>
            <a:ext cx="1252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2000"/>
              </a:lnSpc>
              <a:buNone/>
            </a:pPr>
            <a:r>
              <a:rPr lang="en-US" sz="740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OMOKGYO · PREMIUM CARE</a:t>
            </a:r>
            <a:endParaRPr lang="en-US" sz="7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B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inimal_luxury_background_stationery_sce.png"/>
          <p:cNvPicPr>
            <a:picLocks noChangeAspect="1"/>
          </p:cNvPicPr>
          <p:nvPr/>
        </p:nvPicPr>
        <p:blipFill>
          <a:blip r:embed="rId3"/>
          <a:srcRect l="10" r="10"/>
          <a:stretch/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56032" y="256032"/>
            <a:ext cx="7050024" cy="10177272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D6B46A">
                <a:alpha val="82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56692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LEEDS BEAUTY STUDIO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053328" y="539496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PAGE 08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658368" y="932688"/>
            <a:ext cx="6245352" cy="0"/>
          </a:xfrm>
          <a:prstGeom prst="line">
            <a:avLst/>
          </a:prstGeom>
          <a:noFill/>
          <a:ln w="7620">
            <a:solidFill>
              <a:srgbClr val="D6B46A">
                <a:alpha val="72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126187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800" b="1" dirty="0">
                <a:solidFill>
                  <a:srgbClr val="4B3524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LASH PERM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85800" y="18745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2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노글루 펌과 클리닉 틴팅펌을 한 페이지에</a:t>
            </a:r>
            <a:endParaRPr lang="en-US" sz="1220" dirty="0"/>
          </a:p>
        </p:txBody>
      </p:sp>
      <p:sp>
        <p:nvSpPr>
          <p:cNvPr id="9" name="Shape 6"/>
          <p:cNvSpPr/>
          <p:nvPr/>
        </p:nvSpPr>
        <p:spPr>
          <a:xfrm>
            <a:off x="658368" y="2340864"/>
            <a:ext cx="2359152" cy="0"/>
          </a:xfrm>
          <a:prstGeom prst="line">
            <a:avLst/>
          </a:prstGeom>
          <a:noFill/>
          <a:ln w="12700">
            <a:solidFill>
              <a:srgbClr val="B8904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04672" y="2898648"/>
            <a:ext cx="5943600" cy="0"/>
          </a:xfrm>
          <a:prstGeom prst="line">
            <a:avLst/>
          </a:prstGeom>
          <a:noFill/>
          <a:ln w="4445">
            <a:solidFill>
              <a:srgbClr val="D6B46A">
                <a:alpha val="5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" y="3017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335024" y="29718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노글루 펌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335024" y="3328416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글루 사용 부담을 줄이고 자연스러운 컬을 완성하는 깔끔한 속눈썹 펌.</a:t>
            </a:r>
            <a:endParaRPr lang="en-US" sz="960" dirty="0"/>
          </a:p>
        </p:txBody>
      </p:sp>
      <p:sp>
        <p:nvSpPr>
          <p:cNvPr id="14" name="Text 11"/>
          <p:cNvSpPr/>
          <p:nvPr/>
        </p:nvSpPr>
        <p:spPr>
          <a:xfrm>
            <a:off x="1335024" y="3922776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92000"/>
              </a:lnSpc>
            </a:pPr>
            <a:r>
              <a:rPr lang="en-US" altLang="ko-KR" sz="84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40</a:t>
            </a:r>
            <a:r>
              <a:rPr lang="ko-KR" altLang="en-US" sz="84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분 </a:t>
            </a:r>
            <a:r>
              <a:rPr lang="en-US" sz="840" b="1" dirty="0" err="1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자연컬</a:t>
            </a:r>
            <a:r>
              <a:rPr lang="en-US" sz="84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· 데일리 펌 · 글루 부담 완화</a:t>
            </a:r>
            <a:endParaRPr lang="en-US" sz="840" dirty="0"/>
          </a:p>
        </p:txBody>
      </p:sp>
      <p:sp>
        <p:nvSpPr>
          <p:cNvPr id="15" name="Text 12"/>
          <p:cNvSpPr/>
          <p:nvPr/>
        </p:nvSpPr>
        <p:spPr>
          <a:xfrm>
            <a:off x="5285232" y="299923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2F251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25,000</a:t>
            </a:r>
            <a:r>
              <a:rPr lang="ko-KR" altLang="en-US" sz="1350" b="1" dirty="0">
                <a:solidFill>
                  <a:srgbClr val="2F251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원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804672" y="4471416"/>
            <a:ext cx="5943600" cy="0"/>
          </a:xfrm>
          <a:prstGeom prst="line">
            <a:avLst/>
          </a:prstGeom>
          <a:noFill/>
          <a:ln w="4445">
            <a:solidFill>
              <a:srgbClr val="D6B46A">
                <a:alpha val="58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6384" y="459028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335024" y="454456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클리닉 틴팅펌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1335024" y="4901184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86000"/>
              </a:lnSpc>
            </a:pPr>
            <a:r>
              <a:rPr lang="ko-KR" alt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단백질 케어와 블랙 </a:t>
            </a:r>
            <a:r>
              <a:rPr lang="ko-KR" altLang="en-US" sz="960" dirty="0" err="1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틴팅을</a:t>
            </a:r>
            <a:r>
              <a:rPr lang="ko-KR" alt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더해 선명하고 또렷한 눈매를 연출</a:t>
            </a:r>
            <a:r>
              <a:rPr lang="en-US" altLang="ko-KR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.</a:t>
            </a:r>
          </a:p>
          <a:p>
            <a:pPr>
              <a:lnSpc>
                <a:spcPct val="86000"/>
              </a:lnSpc>
            </a:pPr>
            <a:r>
              <a:rPr lang="ko-KR" alt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개인 </a:t>
            </a:r>
            <a:r>
              <a:rPr lang="ko-KR" altLang="en-US" sz="960" dirty="0" err="1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모질에</a:t>
            </a:r>
            <a:r>
              <a:rPr lang="ko-KR" alt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따라 소요시간 변동가능성 있음</a:t>
            </a:r>
            <a:r>
              <a:rPr lang="en-US" altLang="ko-KR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.</a:t>
            </a:r>
            <a:endParaRPr lang="en-US" sz="960" dirty="0"/>
          </a:p>
        </p:txBody>
      </p:sp>
      <p:sp>
        <p:nvSpPr>
          <p:cNvPr id="20" name="Text 17"/>
          <p:cNvSpPr/>
          <p:nvPr/>
        </p:nvSpPr>
        <p:spPr>
          <a:xfrm>
            <a:off x="1335024" y="5495544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92000"/>
              </a:lnSpc>
            </a:pPr>
            <a:r>
              <a:rPr lang="en-US" altLang="ko-KR" sz="84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50</a:t>
            </a:r>
            <a:r>
              <a:rPr lang="ko-KR" altLang="en-US" sz="84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분 </a:t>
            </a:r>
            <a:r>
              <a:rPr lang="en-US" sz="840" b="1" dirty="0" err="1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클리닉</a:t>
            </a:r>
            <a:r>
              <a:rPr lang="en-US" sz="84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· 틴팅 · 선명한 컬</a:t>
            </a:r>
            <a:endParaRPr lang="en-US" sz="840" dirty="0"/>
          </a:p>
        </p:txBody>
      </p:sp>
      <p:sp>
        <p:nvSpPr>
          <p:cNvPr id="21" name="Text 18"/>
          <p:cNvSpPr/>
          <p:nvPr/>
        </p:nvSpPr>
        <p:spPr>
          <a:xfrm>
            <a:off x="5285232" y="45720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2F251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30,000</a:t>
            </a:r>
            <a:r>
              <a:rPr lang="ko-KR" altLang="en-US" sz="1350" b="1" dirty="0">
                <a:solidFill>
                  <a:srgbClr val="2F251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원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804672" y="6044184"/>
            <a:ext cx="5943600" cy="0"/>
          </a:xfrm>
          <a:prstGeom prst="line">
            <a:avLst/>
          </a:prstGeom>
          <a:noFill/>
          <a:ln w="4445">
            <a:solidFill>
              <a:srgbClr val="D6B46A">
                <a:alpha val="58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86384" y="6163056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335024" y="611733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450" b="1" dirty="0" err="1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속눈썹</a:t>
            </a:r>
            <a:r>
              <a:rPr lang="en-US" sz="1450" b="1" dirty="0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</a:t>
            </a:r>
            <a:r>
              <a:rPr lang="ko-KR" altLang="en-US" sz="1450" b="1" dirty="0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클리닉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1335024" y="6473952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86000"/>
              </a:lnSpc>
            </a:pPr>
            <a:r>
              <a:rPr lang="ko-KR" alt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속눈썹 펌 후 손상되고 약해진 모발을 주기적으로 관리하기 위한 단백질 영양 케어</a:t>
            </a:r>
            <a:r>
              <a:rPr lang="en-US" altLang="ko-KR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.</a:t>
            </a:r>
            <a:endParaRPr lang="en-US" sz="960" dirty="0"/>
          </a:p>
        </p:txBody>
      </p:sp>
      <p:sp>
        <p:nvSpPr>
          <p:cNvPr id="26" name="Text 23"/>
          <p:cNvSpPr/>
          <p:nvPr/>
        </p:nvSpPr>
        <p:spPr>
          <a:xfrm>
            <a:off x="1335024" y="7068312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84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10</a:t>
            </a:r>
            <a:r>
              <a:rPr lang="ko-KR" altLang="en-US" sz="84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분 </a:t>
            </a:r>
            <a:r>
              <a:rPr lang="en-US" sz="840" b="1" dirty="0" err="1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영양</a:t>
            </a:r>
            <a:r>
              <a:rPr lang="en-US" sz="84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· 결정돈 · 유지력 관리</a:t>
            </a:r>
            <a:endParaRPr lang="en-US" sz="840" dirty="0"/>
          </a:p>
        </p:txBody>
      </p:sp>
      <p:sp>
        <p:nvSpPr>
          <p:cNvPr id="27" name="Text 24"/>
          <p:cNvSpPr/>
          <p:nvPr/>
        </p:nvSpPr>
        <p:spPr>
          <a:xfrm>
            <a:off x="5285232" y="614476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2F251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10,000</a:t>
            </a:r>
            <a:r>
              <a:rPr lang="ko-KR" altLang="en-US" sz="1350" b="1" dirty="0">
                <a:solidFill>
                  <a:srgbClr val="2F251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원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658368" y="9802368"/>
            <a:ext cx="6245352" cy="0"/>
          </a:xfrm>
          <a:prstGeom prst="line">
            <a:avLst/>
          </a:prstGeom>
          <a:noFill/>
          <a:ln w="5715">
            <a:solidFill>
              <a:srgbClr val="D6B46A">
                <a:alpha val="62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58368" y="9976104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830" dirty="0">
                <a:solidFill>
                  <a:srgbClr val="8D7A6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근막과 근육 순환으로 고민하던 피부, 통증 문제가 개선됩니다.</a:t>
            </a:r>
            <a:endParaRPr lang="en-US" sz="830" dirty="0"/>
          </a:p>
        </p:txBody>
      </p:sp>
      <p:sp>
        <p:nvSpPr>
          <p:cNvPr id="30" name="Text 27"/>
          <p:cNvSpPr/>
          <p:nvPr/>
        </p:nvSpPr>
        <p:spPr>
          <a:xfrm>
            <a:off x="5650992" y="9976104"/>
            <a:ext cx="1252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2000"/>
              </a:lnSpc>
              <a:buNone/>
            </a:pPr>
            <a:r>
              <a:rPr lang="en-US" sz="740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OMOKGYO · PREMIUM CARE</a:t>
            </a:r>
            <a:endParaRPr lang="en-US" sz="7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B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inimal_luxury_background_stationery_sce.png"/>
          <p:cNvPicPr>
            <a:picLocks noChangeAspect="1"/>
          </p:cNvPicPr>
          <p:nvPr/>
        </p:nvPicPr>
        <p:blipFill>
          <a:blip r:embed="rId3"/>
          <a:srcRect l="10" r="10"/>
          <a:stretch/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56032" y="256032"/>
            <a:ext cx="7050024" cy="10177272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D6B46A">
                <a:alpha val="82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56692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LEEDS BEAUTY STUDIO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053328" y="539496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PAGE 09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658368" y="932688"/>
            <a:ext cx="6245352" cy="0"/>
          </a:xfrm>
          <a:prstGeom prst="line">
            <a:avLst/>
          </a:prstGeom>
          <a:noFill/>
          <a:ln w="7620">
            <a:solidFill>
              <a:srgbClr val="D6B46A">
                <a:alpha val="72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126187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800" b="1" dirty="0">
                <a:solidFill>
                  <a:srgbClr val="4B3524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OPEN EVENT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85800" y="18745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2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2026.09.01 – 2026.12.31 오픈 이벤트</a:t>
            </a:r>
            <a:endParaRPr lang="en-US" sz="1220" dirty="0"/>
          </a:p>
        </p:txBody>
      </p:sp>
      <p:sp>
        <p:nvSpPr>
          <p:cNvPr id="9" name="Shape 6"/>
          <p:cNvSpPr/>
          <p:nvPr/>
        </p:nvSpPr>
        <p:spPr>
          <a:xfrm>
            <a:off x="658368" y="2340864"/>
            <a:ext cx="2359152" cy="0"/>
          </a:xfrm>
          <a:prstGeom prst="line">
            <a:avLst/>
          </a:prstGeom>
          <a:noFill/>
          <a:ln w="12700">
            <a:solidFill>
              <a:srgbClr val="B8904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04672" y="2724912"/>
            <a:ext cx="5943600" cy="0"/>
          </a:xfrm>
          <a:prstGeom prst="line">
            <a:avLst/>
          </a:prstGeom>
          <a:noFill/>
          <a:ln w="4445">
            <a:solidFill>
              <a:srgbClr val="D6B46A">
                <a:alpha val="5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" y="2843784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335024" y="279806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첫 방문 고객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335023" y="3154680"/>
            <a:ext cx="44847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리즈뷰티스튜디오를 처음 방문하는 고객님께 적용되는 오픈 </a:t>
            </a:r>
            <a:r>
              <a:rPr lang="en-US" sz="960" dirty="0" err="1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혜택</a:t>
            </a:r>
            <a:r>
              <a:rPr 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.(</a:t>
            </a:r>
            <a:r>
              <a:rPr lang="ko-KR" alt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베이직 케어</a:t>
            </a:r>
            <a:r>
              <a:rPr lang="en-US" altLang="ko-KR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, </a:t>
            </a:r>
            <a:r>
              <a:rPr lang="ko-KR" alt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속눈썹 메뉴 제외</a:t>
            </a:r>
            <a:r>
              <a:rPr lang="en-US" altLang="ko-KR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)</a:t>
            </a:r>
            <a:endParaRPr lang="en-US" sz="960" dirty="0"/>
          </a:p>
        </p:txBody>
      </p:sp>
      <p:sp>
        <p:nvSpPr>
          <p:cNvPr id="14" name="Text 11"/>
          <p:cNvSpPr/>
          <p:nvPr/>
        </p:nvSpPr>
        <p:spPr>
          <a:xfrm>
            <a:off x="1335024" y="3749040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84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기간 한정 · </a:t>
            </a:r>
            <a:r>
              <a:rPr lang="ko-KR" altLang="en-US" sz="84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이벤트 중복 불가</a:t>
            </a:r>
            <a:endParaRPr lang="en-US" sz="840" dirty="0"/>
          </a:p>
        </p:txBody>
      </p:sp>
      <p:sp>
        <p:nvSpPr>
          <p:cNvPr id="15" name="Text 12"/>
          <p:cNvSpPr/>
          <p:nvPr/>
        </p:nvSpPr>
        <p:spPr>
          <a:xfrm>
            <a:off x="5285232" y="282549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2F251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30% OFF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804672" y="4050792"/>
            <a:ext cx="5943600" cy="0"/>
          </a:xfrm>
          <a:prstGeom prst="line">
            <a:avLst/>
          </a:prstGeom>
          <a:noFill/>
          <a:ln w="4445">
            <a:solidFill>
              <a:srgbClr val="D6B46A">
                <a:alpha val="58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6384" y="4169664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335024" y="412394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리뷰 작성 혜택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1335024" y="4480560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관리 후 리뷰 작성 화면을 보여주시면 추가 할인 혜택을 드립니다.</a:t>
            </a:r>
            <a:endParaRPr lang="en-US" sz="960" dirty="0"/>
          </a:p>
        </p:txBody>
      </p:sp>
      <p:sp>
        <p:nvSpPr>
          <p:cNvPr id="20" name="Text 17"/>
          <p:cNvSpPr/>
          <p:nvPr/>
        </p:nvSpPr>
        <p:spPr>
          <a:xfrm>
            <a:off x="1335024" y="5074920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84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첫 방문 혜택과 함께 적용 가능</a:t>
            </a:r>
            <a:endParaRPr lang="en-US" sz="840" dirty="0"/>
          </a:p>
        </p:txBody>
      </p:sp>
      <p:sp>
        <p:nvSpPr>
          <p:cNvPr id="21" name="Text 18"/>
          <p:cNvSpPr/>
          <p:nvPr/>
        </p:nvSpPr>
        <p:spPr>
          <a:xfrm>
            <a:off x="5285232" y="415137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2F251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10% OFF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804672" y="5376672"/>
            <a:ext cx="5943600" cy="0"/>
          </a:xfrm>
          <a:prstGeom prst="line">
            <a:avLst/>
          </a:prstGeom>
          <a:noFill/>
          <a:ln w="4445">
            <a:solidFill>
              <a:srgbClr val="D6B46A">
                <a:alpha val="58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86384" y="5495544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335024" y="544982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지인 소개 혜택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1335024" y="5806440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지인 소개 방문 시 소개 고객과 신규 고객 모두에게 감사 혜택을 제공합니다.</a:t>
            </a:r>
            <a:endParaRPr lang="en-US" sz="960" dirty="0"/>
          </a:p>
        </p:txBody>
      </p:sp>
      <p:sp>
        <p:nvSpPr>
          <p:cNvPr id="26" name="Text 23"/>
          <p:cNvSpPr/>
          <p:nvPr/>
        </p:nvSpPr>
        <p:spPr>
          <a:xfrm>
            <a:off x="1335024" y="6400800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84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소개 확인 후 적용</a:t>
            </a:r>
            <a:endParaRPr lang="en-US" sz="840" dirty="0"/>
          </a:p>
        </p:txBody>
      </p:sp>
      <p:sp>
        <p:nvSpPr>
          <p:cNvPr id="27" name="Text 24"/>
          <p:cNvSpPr/>
          <p:nvPr/>
        </p:nvSpPr>
        <p:spPr>
          <a:xfrm>
            <a:off x="5285232" y="547725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2F251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10% OFF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804672" y="6702552"/>
            <a:ext cx="5943600" cy="0"/>
          </a:xfrm>
          <a:prstGeom prst="line">
            <a:avLst/>
          </a:prstGeom>
          <a:noFill/>
          <a:ln w="4445">
            <a:solidFill>
              <a:srgbClr val="D6B46A">
                <a:alpha val="58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86384" y="6821424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04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335024" y="677570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시간대 한정 리프팅</a:t>
            </a:r>
            <a:endParaRPr lang="en-US" sz="1450" dirty="0"/>
          </a:p>
        </p:txBody>
      </p:sp>
      <p:sp>
        <p:nvSpPr>
          <p:cNvPr id="31" name="Text 28"/>
          <p:cNvSpPr/>
          <p:nvPr/>
        </p:nvSpPr>
        <p:spPr>
          <a:xfrm>
            <a:off x="1335024" y="7132320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960" dirty="0" err="1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써마</a:t>
            </a:r>
            <a:r>
              <a:rPr lang="ko-KR" altLang="en-US" sz="960" dirty="0" err="1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쥬와</a:t>
            </a:r>
            <a:r>
              <a:rPr 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</a:t>
            </a:r>
            <a:r>
              <a:rPr lang="ko-KR" altLang="en-US" sz="960" dirty="0" err="1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스마트쎄라</a:t>
            </a:r>
            <a:r>
              <a:rPr lang="ko-KR" alt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</a:t>
            </a:r>
            <a:r>
              <a:rPr lang="en-US" sz="960" dirty="0" err="1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리프팅은</a:t>
            </a:r>
            <a:r>
              <a:rPr 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11:00–16:00 방문 시 </a:t>
            </a:r>
            <a:r>
              <a:rPr lang="en-US" sz="960" dirty="0" err="1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이벤트가</a:t>
            </a:r>
            <a:r>
              <a:rPr lang="ko-KR" alt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로 할인</a:t>
            </a:r>
            <a:r>
              <a:rPr 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적용됩니다.</a:t>
            </a:r>
            <a:endParaRPr lang="en-US" sz="960" dirty="0"/>
          </a:p>
        </p:txBody>
      </p:sp>
      <p:sp>
        <p:nvSpPr>
          <p:cNvPr id="32" name="Text 29"/>
          <p:cNvSpPr/>
          <p:nvPr/>
        </p:nvSpPr>
        <p:spPr>
          <a:xfrm>
            <a:off x="1335024" y="7726680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840" b="1" dirty="0" err="1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써마</a:t>
            </a:r>
            <a:r>
              <a:rPr lang="ko-KR" altLang="en-US" sz="840" b="1" dirty="0" err="1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쥬</a:t>
            </a:r>
            <a:r>
              <a:rPr lang="en-US" sz="84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75,000원 · </a:t>
            </a:r>
            <a:r>
              <a:rPr lang="ko-KR" altLang="en-US" sz="840" b="1" dirty="0" err="1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스마트쎄라</a:t>
            </a:r>
            <a:r>
              <a:rPr lang="ko-KR" altLang="en-US" sz="840" b="1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</a:t>
            </a:r>
            <a:r>
              <a:rPr lang="en-US" sz="840" b="1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150,000</a:t>
            </a:r>
            <a:r>
              <a:rPr lang="en-US" sz="84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원</a:t>
            </a:r>
            <a:endParaRPr lang="en-US" sz="840" dirty="0"/>
          </a:p>
        </p:txBody>
      </p:sp>
      <p:sp>
        <p:nvSpPr>
          <p:cNvPr id="33" name="Text 30"/>
          <p:cNvSpPr/>
          <p:nvPr/>
        </p:nvSpPr>
        <p:spPr>
          <a:xfrm>
            <a:off x="5285232" y="680313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2F251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TIME EVENT</a:t>
            </a:r>
            <a:endParaRPr lang="en-US" sz="1350" dirty="0"/>
          </a:p>
        </p:txBody>
      </p:sp>
      <p:sp>
        <p:nvSpPr>
          <p:cNvPr id="34" name="Shape 31"/>
          <p:cNvSpPr/>
          <p:nvPr/>
        </p:nvSpPr>
        <p:spPr>
          <a:xfrm>
            <a:off x="658368" y="9802368"/>
            <a:ext cx="6245352" cy="0"/>
          </a:xfrm>
          <a:prstGeom prst="line">
            <a:avLst/>
          </a:prstGeom>
          <a:noFill/>
          <a:ln w="5715">
            <a:solidFill>
              <a:srgbClr val="D6B46A">
                <a:alpha val="6200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58368" y="9976104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830" dirty="0">
                <a:solidFill>
                  <a:srgbClr val="8D7A6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근막과 근육 순환으로 고민하던 피부, 통증 문제가 개선됩니다.</a:t>
            </a:r>
            <a:endParaRPr lang="en-US" sz="830" dirty="0"/>
          </a:p>
        </p:txBody>
      </p:sp>
      <p:sp>
        <p:nvSpPr>
          <p:cNvPr id="36" name="Text 33"/>
          <p:cNvSpPr/>
          <p:nvPr/>
        </p:nvSpPr>
        <p:spPr>
          <a:xfrm>
            <a:off x="5650992" y="9976104"/>
            <a:ext cx="1252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2000"/>
              </a:lnSpc>
              <a:buNone/>
            </a:pPr>
            <a:r>
              <a:rPr lang="en-US" sz="740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OMOKGYO · PREMIUM CARE</a:t>
            </a:r>
            <a:endParaRPr lang="en-US" sz="7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B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inimal_luxury_background_stationery_sce.png"/>
          <p:cNvPicPr>
            <a:picLocks noChangeAspect="1"/>
          </p:cNvPicPr>
          <p:nvPr/>
        </p:nvPicPr>
        <p:blipFill>
          <a:blip r:embed="rId3"/>
          <a:srcRect l="10" r="10"/>
          <a:stretch/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56032" y="256032"/>
            <a:ext cx="7050024" cy="10177272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D6B46A">
                <a:alpha val="82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56692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LEEDS BEAUTY STUDIO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053328" y="539496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PAGE 10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658368" y="932688"/>
            <a:ext cx="6245352" cy="0"/>
          </a:xfrm>
          <a:prstGeom prst="line">
            <a:avLst/>
          </a:prstGeom>
          <a:noFill/>
          <a:ln w="7620">
            <a:solidFill>
              <a:srgbClr val="D6B46A">
                <a:alpha val="72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126187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800" b="1" dirty="0">
                <a:solidFill>
                  <a:srgbClr val="4B3524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ACADEMY COURSE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85800" y="18745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2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수강 메뉴 · 실무 중심 1:1 교육 페이지</a:t>
            </a:r>
            <a:endParaRPr lang="en-US" sz="1220" dirty="0"/>
          </a:p>
        </p:txBody>
      </p:sp>
      <p:sp>
        <p:nvSpPr>
          <p:cNvPr id="9" name="Shape 6"/>
          <p:cNvSpPr/>
          <p:nvPr/>
        </p:nvSpPr>
        <p:spPr>
          <a:xfrm>
            <a:off x="658368" y="2340864"/>
            <a:ext cx="2359152" cy="0"/>
          </a:xfrm>
          <a:prstGeom prst="line">
            <a:avLst/>
          </a:prstGeom>
          <a:noFill/>
          <a:ln w="12700">
            <a:solidFill>
              <a:srgbClr val="B8904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04672" y="2724912"/>
            <a:ext cx="5943600" cy="0"/>
          </a:xfrm>
          <a:prstGeom prst="line">
            <a:avLst/>
          </a:prstGeom>
          <a:noFill/>
          <a:ln w="4445">
            <a:solidFill>
              <a:srgbClr val="D6B46A">
                <a:alpha val="5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" y="2843784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335024" y="279806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속눈썹 국가자격증 대비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335024" y="3154680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필기·실기 흐름을 잡고 시험 기준에 맞춰 반복 연습하는 자격증 대비 과정.</a:t>
            </a:r>
            <a:endParaRPr lang="en-US" sz="960" dirty="0"/>
          </a:p>
        </p:txBody>
      </p:sp>
      <p:sp>
        <p:nvSpPr>
          <p:cNvPr id="14" name="Text 11"/>
          <p:cNvSpPr/>
          <p:nvPr/>
        </p:nvSpPr>
        <p:spPr>
          <a:xfrm>
            <a:off x="1335024" y="3749040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84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1:1 또는 소수정예 · 일정 상담</a:t>
            </a:r>
            <a:endParaRPr lang="en-US" sz="840" dirty="0"/>
          </a:p>
        </p:txBody>
      </p:sp>
      <p:sp>
        <p:nvSpPr>
          <p:cNvPr id="15" name="Text 12"/>
          <p:cNvSpPr/>
          <p:nvPr/>
        </p:nvSpPr>
        <p:spPr>
          <a:xfrm>
            <a:off x="5285232" y="282549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2F251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별도문의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804672" y="4050792"/>
            <a:ext cx="5943600" cy="0"/>
          </a:xfrm>
          <a:prstGeom prst="line">
            <a:avLst/>
          </a:prstGeom>
          <a:noFill/>
          <a:ln w="4445">
            <a:solidFill>
              <a:srgbClr val="D6B46A">
                <a:alpha val="58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6384" y="4169664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335024" y="412394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노글루 펌 실무반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1335024" y="4480560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상담, 롯드 선택, 컬 디자인, 유지력 관리까지 현장 적용 중심 수업.</a:t>
            </a:r>
            <a:endParaRPr lang="en-US" sz="960" dirty="0"/>
          </a:p>
        </p:txBody>
      </p:sp>
      <p:sp>
        <p:nvSpPr>
          <p:cNvPr id="20" name="Text 17"/>
          <p:cNvSpPr/>
          <p:nvPr/>
        </p:nvSpPr>
        <p:spPr>
          <a:xfrm>
            <a:off x="1335024" y="5074920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84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실무 테크닉 · 모델 실습</a:t>
            </a:r>
            <a:endParaRPr lang="en-US" sz="840" dirty="0"/>
          </a:p>
        </p:txBody>
      </p:sp>
      <p:sp>
        <p:nvSpPr>
          <p:cNvPr id="21" name="Text 18"/>
          <p:cNvSpPr/>
          <p:nvPr/>
        </p:nvSpPr>
        <p:spPr>
          <a:xfrm>
            <a:off x="5285232" y="415137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2F251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별도문의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804672" y="5376672"/>
            <a:ext cx="5943600" cy="0"/>
          </a:xfrm>
          <a:prstGeom prst="line">
            <a:avLst/>
          </a:prstGeom>
          <a:noFill/>
          <a:ln w="4445">
            <a:solidFill>
              <a:srgbClr val="D6B46A">
                <a:alpha val="58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86384" y="5495544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335024" y="544982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클리닉 틴팅펌 실무반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1335024" y="5806440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손상 부담을 줄이면서 선명한 컬과 틴팅감을 완성하는 응용 과정.</a:t>
            </a:r>
            <a:endParaRPr lang="en-US" sz="960" dirty="0"/>
          </a:p>
        </p:txBody>
      </p:sp>
      <p:sp>
        <p:nvSpPr>
          <p:cNvPr id="26" name="Text 23"/>
          <p:cNvSpPr/>
          <p:nvPr/>
        </p:nvSpPr>
        <p:spPr>
          <a:xfrm>
            <a:off x="1335024" y="6400800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84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클리닉 포뮬러 · 틴팅 응용</a:t>
            </a:r>
            <a:endParaRPr lang="en-US" sz="840" dirty="0"/>
          </a:p>
        </p:txBody>
      </p:sp>
      <p:sp>
        <p:nvSpPr>
          <p:cNvPr id="27" name="Text 24"/>
          <p:cNvSpPr/>
          <p:nvPr/>
        </p:nvSpPr>
        <p:spPr>
          <a:xfrm>
            <a:off x="5285232" y="547725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2F251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별도문의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804672" y="6702552"/>
            <a:ext cx="5943600" cy="0"/>
          </a:xfrm>
          <a:prstGeom prst="line">
            <a:avLst/>
          </a:prstGeom>
          <a:noFill/>
          <a:ln w="4445">
            <a:solidFill>
              <a:srgbClr val="D6B46A">
                <a:alpha val="58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86384" y="6821424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04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335024" y="677570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4B352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패디 플래닝 &amp; 굳은살 케어</a:t>
            </a:r>
            <a:endParaRPr lang="en-US" sz="1450" dirty="0"/>
          </a:p>
        </p:txBody>
      </p:sp>
      <p:sp>
        <p:nvSpPr>
          <p:cNvPr id="31" name="Text 28"/>
          <p:cNvSpPr/>
          <p:nvPr/>
        </p:nvSpPr>
        <p:spPr>
          <a:xfrm>
            <a:off x="1335024" y="7132320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960" dirty="0">
                <a:solidFill>
                  <a:srgbClr val="7E6B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발 상태 상담부터 각질 정돈, 굳은살 집중 관리, 사후관리 안내까지 교육.</a:t>
            </a:r>
            <a:endParaRPr lang="en-US" sz="960" dirty="0"/>
          </a:p>
        </p:txBody>
      </p:sp>
      <p:sp>
        <p:nvSpPr>
          <p:cNvPr id="32" name="Text 29"/>
          <p:cNvSpPr/>
          <p:nvPr/>
        </p:nvSpPr>
        <p:spPr>
          <a:xfrm>
            <a:off x="1335024" y="7726680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840" b="1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실무반 · 창업 응용 가능</a:t>
            </a:r>
            <a:endParaRPr lang="en-US" sz="840" dirty="0"/>
          </a:p>
        </p:txBody>
      </p:sp>
      <p:sp>
        <p:nvSpPr>
          <p:cNvPr id="33" name="Text 30"/>
          <p:cNvSpPr/>
          <p:nvPr/>
        </p:nvSpPr>
        <p:spPr>
          <a:xfrm>
            <a:off x="5285232" y="680313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2F251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별도문의</a:t>
            </a:r>
            <a:endParaRPr lang="en-US" sz="1350" dirty="0"/>
          </a:p>
        </p:txBody>
      </p:sp>
      <p:sp>
        <p:nvSpPr>
          <p:cNvPr id="34" name="Shape 31"/>
          <p:cNvSpPr/>
          <p:nvPr/>
        </p:nvSpPr>
        <p:spPr>
          <a:xfrm>
            <a:off x="658368" y="9802368"/>
            <a:ext cx="6245352" cy="0"/>
          </a:xfrm>
          <a:prstGeom prst="line">
            <a:avLst/>
          </a:prstGeom>
          <a:noFill/>
          <a:ln w="5715">
            <a:solidFill>
              <a:srgbClr val="D6B46A">
                <a:alpha val="6200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58368" y="9976104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830" dirty="0">
                <a:solidFill>
                  <a:srgbClr val="8D7A6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근막과 근육 순환으로 고민하던 피부, 통증 문제가 개선됩니다.</a:t>
            </a:r>
            <a:endParaRPr lang="en-US" sz="830" dirty="0"/>
          </a:p>
        </p:txBody>
      </p:sp>
      <p:sp>
        <p:nvSpPr>
          <p:cNvPr id="36" name="Text 33"/>
          <p:cNvSpPr/>
          <p:nvPr/>
        </p:nvSpPr>
        <p:spPr>
          <a:xfrm>
            <a:off x="5650992" y="9976104"/>
            <a:ext cx="1252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2000"/>
              </a:lnSpc>
              <a:buNone/>
            </a:pPr>
            <a:r>
              <a:rPr lang="en-US" sz="740" dirty="0">
                <a:solidFill>
                  <a:srgbClr val="8E6A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OMOKGYO · PREMIUM CARE</a:t>
            </a:r>
            <a:endParaRPr lang="en-US" sz="7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Squar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1100</Words>
  <Application>Microsoft Office PowerPoint</Application>
  <PresentationFormat>사용자 지정</PresentationFormat>
  <Paragraphs>233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NanumSquare</vt:lpstr>
      <vt:lpstr>Noto Serif CJK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LEEDS BEAUTY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LEEDS BEAUTY STUDIO 메뉴북</dc:title>
  <dc:subject>LEEDS BEAUTY STUDIO Menu Book</dc:subject>
  <dc:creator>OpenAI</dc:creator>
  <cp:lastModifiedBy>MinHee Lee</cp:lastModifiedBy>
  <cp:revision>17</cp:revision>
  <dcterms:created xsi:type="dcterms:W3CDTF">2026-08-26T15:34:09Z</dcterms:created>
  <dcterms:modified xsi:type="dcterms:W3CDTF">2026-09-14T04:49:50Z</dcterms:modified>
</cp:coreProperties>
</file>